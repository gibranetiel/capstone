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io" charset="1" panose="02000503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  <p:embeddedFont>
      <p:font typeface="Anton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762000"/>
            <a:ext cx="2781300" cy="0"/>
          </a:xfrm>
          <a:prstGeom prst="line">
            <a:avLst/>
          </a:prstGeom>
          <a:ln cap="flat" w="28575">
            <a:solidFill>
              <a:srgbClr val="2D7F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981200"/>
            <a:ext cx="11430000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KraneChile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8915400"/>
            <a:ext cx="6591300" cy="0"/>
          </a:xfrm>
          <a:prstGeom prst="line">
            <a:avLst/>
          </a:prstGeom>
          <a:ln cap="flat" w="9525">
            <a:solidFill>
              <a:srgbClr val="1E30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542962" y="-230997"/>
            <a:ext cx="7745038" cy="10984278"/>
          </a:xfrm>
          <a:custGeom>
            <a:avLst/>
            <a:gdLst/>
            <a:ahLst/>
            <a:cxnLst/>
            <a:rect r="r" b="b" t="t" l="l"/>
            <a:pathLst>
              <a:path h="10984278" w="7745038">
                <a:moveTo>
                  <a:pt x="0" y="0"/>
                </a:moveTo>
                <a:lnTo>
                  <a:pt x="7745038" y="0"/>
                </a:lnTo>
                <a:lnTo>
                  <a:pt x="7745038" y="10984277"/>
                </a:lnTo>
                <a:lnTo>
                  <a:pt x="0" y="10984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-56634" t="0" r="-5663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476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PROYECTO APT — FASE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5287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Plataforma tecnológica para digitalizar la gestión de arriendo de grúas e izaje en 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0011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Gibran Beiza</a:t>
            </a: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·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440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Jordan Vergara</a:t>
            </a: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·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33534" y="9017652"/>
            <a:ext cx="32576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b="true" sz="1400" spc="-63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4153" y="633904"/>
            <a:ext cx="11529966" cy="93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6"/>
              </a:lnSpc>
            </a:pPr>
            <a:r>
              <a:rPr lang="en-US" sz="7086" spc="-318">
                <a:solidFill>
                  <a:srgbClr val="1C1916"/>
                </a:solidFill>
                <a:latin typeface="Anton"/>
                <a:ea typeface="Anton"/>
                <a:cs typeface="Anton"/>
                <a:sym typeface="Anton"/>
              </a:rPr>
              <a:t>DESCRIPCIÓ</a:t>
            </a:r>
            <a:r>
              <a:rPr lang="en-US" sz="7086" spc="-318">
                <a:solidFill>
                  <a:srgbClr val="1C1916"/>
                </a:solidFill>
                <a:latin typeface="Anton"/>
                <a:ea typeface="Anton"/>
                <a:cs typeface="Anton"/>
                <a:sym typeface="Anton"/>
              </a:rPr>
              <a:t>N DEL PROYECTO APT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12592"/>
            <a:ext cx="998948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9"/>
              </a:lnSpc>
              <a:spcBef>
                <a:spcPct val="0"/>
              </a:spcBef>
            </a:pPr>
            <a:r>
              <a:rPr lang="en-US" sz="2557" spc="-102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aneCh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 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sis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tema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lógico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oy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cta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revoluc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logís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 l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ru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cci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ó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 en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hile m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 l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ig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ta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lizació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el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rien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do 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de maqu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ri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57" spc="-102" strike="noStrike" u="none">
                <a:solidFill>
                  <a:srgbClr val="1C1916"/>
                </a:solidFill>
                <a:latin typeface="Open Sauce"/>
                <a:ea typeface="Open Sauce"/>
                <a:cs typeface="Open Sauce"/>
                <a:sym typeface="Open Sauce"/>
              </a:rPr>
              <a:t> pesada.</a:t>
            </a:r>
          </a:p>
          <a:p>
            <a:pPr algn="ctr" marL="0" indent="0" lvl="0">
              <a:lnSpc>
                <a:spcPts val="306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83350" y="5105400"/>
            <a:ext cx="6334090" cy="381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Componentes Clave del Sistema: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Catálogos interactivos de flota pesada y filtros avanzados.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Motor de cotizaciones dinámicas con recargos por turno.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Georreferenciación e integración con mapas Leaflet.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Pasarela de pagos Webpay Plus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8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Panel de administración con Dashboard de KPIs operacionales.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1735125" y="0"/>
            <a:ext cx="6957611" cy="10287000"/>
            <a:chOff x="0" y="0"/>
            <a:chExt cx="569666" cy="8422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9666" cy="842265"/>
            </a:xfrm>
            <a:custGeom>
              <a:avLst/>
              <a:gdLst/>
              <a:ahLst/>
              <a:cxnLst/>
              <a:rect r="r" b="b" t="t" l="l"/>
              <a:pathLst>
                <a:path h="842265" w="569666">
                  <a:moveTo>
                    <a:pt x="0" y="0"/>
                  </a:moveTo>
                  <a:lnTo>
                    <a:pt x="569666" y="0"/>
                  </a:lnTo>
                  <a:lnTo>
                    <a:pt x="569666" y="842265"/>
                  </a:lnTo>
                  <a:lnTo>
                    <a:pt x="0" y="842265"/>
                  </a:lnTo>
                  <a:close/>
                </a:path>
              </a:pathLst>
            </a:custGeom>
            <a:blipFill>
              <a:blip r:embed="rId2"/>
              <a:stretch>
                <a:fillRect l="-60958" t="0" r="-60958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35450" y="9020175"/>
            <a:ext cx="3333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-63" strike="noStrike" u="none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14375"/>
            <a:ext cx="1619250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SITUACIÓN ACTUAL Y VALOR APORTADO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Contraste entre la realidad del sector y la solución propuesta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390775"/>
            <a:ext cx="7429500" cy="5524500"/>
            <a:chOff x="0" y="0"/>
            <a:chExt cx="9906000" cy="736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9906000">
                  <a:moveTo>
                    <a:pt x="736600" y="0"/>
                  </a:moveTo>
                  <a:lnTo>
                    <a:pt x="9169400" y="0"/>
                  </a:lnTo>
                  <a:cubicBezTo>
                    <a:pt x="9576213" y="0"/>
                    <a:pt x="9906000" y="329787"/>
                    <a:pt x="9906000" y="736600"/>
                  </a:cubicBezTo>
                  <a:lnTo>
                    <a:pt x="9906000" y="6629400"/>
                  </a:lnTo>
                  <a:cubicBezTo>
                    <a:pt x="9906000" y="7036213"/>
                    <a:pt x="9576213" y="7366000"/>
                    <a:pt x="9169400" y="7366000"/>
                  </a:cubicBezTo>
                  <a:lnTo>
                    <a:pt x="736600" y="7366000"/>
                  </a:lnTo>
                  <a:cubicBezTo>
                    <a:pt x="329787" y="7366000"/>
                    <a:pt x="0" y="7036213"/>
                    <a:pt x="0" y="6629400"/>
                  </a:cubicBezTo>
                  <a:lnTo>
                    <a:pt x="0" y="736600"/>
                  </a:lnTo>
                  <a:cubicBezTo>
                    <a:pt x="0" y="329787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FFF5F5"/>
            </a:solidFill>
            <a:ln w="19050" cap="sq">
              <a:solidFill>
                <a:srgbClr val="E5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90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390775"/>
            <a:ext cx="7429500" cy="571500"/>
            <a:chOff x="0" y="0"/>
            <a:chExt cx="9906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762000"/>
            </a:xfrm>
            <a:custGeom>
              <a:avLst/>
              <a:gdLst/>
              <a:ahLst/>
              <a:cxnLst/>
              <a:rect r="r" b="b" t="t" l="l"/>
              <a:pathLst>
                <a:path h="762000" w="9906000">
                  <a:moveTo>
                    <a:pt x="76200" y="0"/>
                  </a:moveTo>
                  <a:lnTo>
                    <a:pt x="9829800" y="0"/>
                  </a:lnTo>
                  <a:cubicBezTo>
                    <a:pt x="9871884" y="0"/>
                    <a:pt x="9906000" y="34116"/>
                    <a:pt x="9906000" y="76200"/>
                  </a:cubicBezTo>
                  <a:lnTo>
                    <a:pt x="9906000" y="685800"/>
                  </a:lnTo>
                  <a:cubicBezTo>
                    <a:pt x="9906000" y="727884"/>
                    <a:pt x="9871884" y="762000"/>
                    <a:pt x="9829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53E3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495550"/>
            <a:ext cx="742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PROBLEMÁTICA ACTUAL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3105150"/>
            <a:ext cx="6858000" cy="354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Contratación de grúas por llamadas, correos y WhatsApp.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Demoras significativas en cotizaciones y respuestas.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Falta de estandarización en tarifas y condiciones.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Escasa visibilidad sobre disponibilidad de flota.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Baja trazabilidad operativa de los servicios.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Procesos manuales propensos a errores y duplicidad.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29700" y="2390775"/>
            <a:ext cx="7429500" cy="5524500"/>
            <a:chOff x="0" y="0"/>
            <a:chExt cx="9906000" cy="736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9906000">
                  <a:moveTo>
                    <a:pt x="736600" y="0"/>
                  </a:moveTo>
                  <a:lnTo>
                    <a:pt x="9169400" y="0"/>
                  </a:lnTo>
                  <a:cubicBezTo>
                    <a:pt x="9576213" y="0"/>
                    <a:pt x="9906000" y="329787"/>
                    <a:pt x="9906000" y="736600"/>
                  </a:cubicBezTo>
                  <a:lnTo>
                    <a:pt x="9906000" y="6629400"/>
                  </a:lnTo>
                  <a:cubicBezTo>
                    <a:pt x="9906000" y="7036213"/>
                    <a:pt x="9576213" y="7366000"/>
                    <a:pt x="9169400" y="7366000"/>
                  </a:cubicBezTo>
                  <a:lnTo>
                    <a:pt x="736600" y="7366000"/>
                  </a:lnTo>
                  <a:cubicBezTo>
                    <a:pt x="329787" y="7366000"/>
                    <a:pt x="0" y="7036213"/>
                    <a:pt x="0" y="6629400"/>
                  </a:cubicBezTo>
                  <a:lnTo>
                    <a:pt x="0" y="736600"/>
                  </a:lnTo>
                  <a:cubicBezTo>
                    <a:pt x="0" y="329787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F0FFF4"/>
            </a:solidFill>
            <a:ln w="19050" cap="sq">
              <a:solidFill>
                <a:srgbClr val="38A16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90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29700" y="2390775"/>
            <a:ext cx="7429500" cy="571500"/>
            <a:chOff x="0" y="0"/>
            <a:chExt cx="9906000" cy="76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6000" cy="762000"/>
            </a:xfrm>
            <a:custGeom>
              <a:avLst/>
              <a:gdLst/>
              <a:ahLst/>
              <a:cxnLst/>
              <a:rect r="r" b="b" t="t" l="l"/>
              <a:pathLst>
                <a:path h="762000" w="9906000">
                  <a:moveTo>
                    <a:pt x="76200" y="0"/>
                  </a:moveTo>
                  <a:lnTo>
                    <a:pt x="9829800" y="0"/>
                  </a:lnTo>
                  <a:cubicBezTo>
                    <a:pt x="9871884" y="0"/>
                    <a:pt x="9906000" y="34116"/>
                    <a:pt x="9906000" y="76200"/>
                  </a:cubicBezTo>
                  <a:lnTo>
                    <a:pt x="9906000" y="685800"/>
                  </a:lnTo>
                  <a:cubicBezTo>
                    <a:pt x="9906000" y="727884"/>
                    <a:pt x="9871884" y="762000"/>
                    <a:pt x="9829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38A16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906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029700" y="2495550"/>
            <a:ext cx="742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VALOR APORTADO POR KRANECHILE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15450" y="3105150"/>
            <a:ext cx="6858000" cy="354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Automatización completa del ciclo comercial.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Cotización parametrizada con cálculo en tiempo real.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Geolocalización de rutas y distancias integrada.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Estandarización de tarifas y condiciones de servicio.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Trazabilidad integral de cada operación.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1A1A1A"/>
                </a:solidFill>
                <a:latin typeface="Open Sauce"/>
                <a:ea typeface="Open Sauce"/>
                <a:cs typeface="Open Sauce"/>
                <a:sym typeface="Open Sauce"/>
              </a:rPr>
              <a:t>• Centralización de la administración del servicio.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47675"/>
            <a:ext cx="11430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PROPUESTA TECNOLÓGICA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Arquitectura modular del ecosistema KraneChile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390775"/>
            <a:ext cx="7143750" cy="2476500"/>
            <a:chOff x="0" y="0"/>
            <a:chExt cx="9525000" cy="330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9525000">
                  <a:moveTo>
                    <a:pt x="330200" y="0"/>
                  </a:moveTo>
                  <a:lnTo>
                    <a:pt x="9194800" y="0"/>
                  </a:lnTo>
                  <a:cubicBezTo>
                    <a:pt x="9377164" y="0"/>
                    <a:pt x="9525000" y="147836"/>
                    <a:pt x="9525000" y="330200"/>
                  </a:cubicBezTo>
                  <a:lnTo>
                    <a:pt x="9525000" y="2971800"/>
                  </a:lnTo>
                  <a:cubicBezTo>
                    <a:pt x="9525000" y="3154164"/>
                    <a:pt x="9377164" y="3302000"/>
                    <a:pt x="9194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25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390775"/>
            <a:ext cx="57150" cy="2476500"/>
            <a:chOff x="0" y="0"/>
            <a:chExt cx="762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71600" y="2581275"/>
            <a:ext cx="6572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A56DB"/>
                </a:solidFill>
                <a:latin typeface="Antonio"/>
                <a:ea typeface="Antonio"/>
                <a:cs typeface="Antonio"/>
                <a:sym typeface="Antonio"/>
              </a:rPr>
              <a:t>Backend /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00" y="3019425"/>
            <a:ext cx="6572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Framework Django + Python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API REST modular con endpoints seguros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Autenticación JWT y control de roles RBAC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Sanitización de entradas y validación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53450" y="2390775"/>
            <a:ext cx="7143750" cy="2476500"/>
            <a:chOff x="0" y="0"/>
            <a:chExt cx="9525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9525000">
                  <a:moveTo>
                    <a:pt x="330200" y="0"/>
                  </a:moveTo>
                  <a:lnTo>
                    <a:pt x="9194800" y="0"/>
                  </a:lnTo>
                  <a:cubicBezTo>
                    <a:pt x="9377164" y="0"/>
                    <a:pt x="9525000" y="147836"/>
                    <a:pt x="9525000" y="330200"/>
                  </a:cubicBezTo>
                  <a:lnTo>
                    <a:pt x="9525000" y="2971800"/>
                  </a:lnTo>
                  <a:cubicBezTo>
                    <a:pt x="9525000" y="3154164"/>
                    <a:pt x="9377164" y="3302000"/>
                    <a:pt x="9194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525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53450" y="2390775"/>
            <a:ext cx="57150" cy="2476500"/>
            <a:chOff x="0" y="0"/>
            <a:chExt cx="76200" cy="330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2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896350" y="2581275"/>
            <a:ext cx="6572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C3AED"/>
                </a:solidFill>
                <a:latin typeface="Antonio"/>
                <a:ea typeface="Antonio"/>
                <a:cs typeface="Antonio"/>
                <a:sym typeface="Antonio"/>
              </a:rPr>
              <a:t>Base de Datos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96350" y="3019425"/>
            <a:ext cx="6572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Modelo relacional SQL normalizado</a:t>
            </a:r>
          </a:p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MySQL como motor</a:t>
            </a:r>
          </a:p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Migraciones versionadas con Django ORM</a:t>
            </a:r>
          </a:p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Integridad referencial y constraints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5248275"/>
            <a:ext cx="7143750" cy="2476500"/>
            <a:chOff x="0" y="0"/>
            <a:chExt cx="9525000" cy="330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9525000">
                  <a:moveTo>
                    <a:pt x="330200" y="0"/>
                  </a:moveTo>
                  <a:lnTo>
                    <a:pt x="9194800" y="0"/>
                  </a:lnTo>
                  <a:cubicBezTo>
                    <a:pt x="9377164" y="0"/>
                    <a:pt x="9525000" y="147836"/>
                    <a:pt x="9525000" y="330200"/>
                  </a:cubicBezTo>
                  <a:lnTo>
                    <a:pt x="9525000" y="2971800"/>
                  </a:lnTo>
                  <a:cubicBezTo>
                    <a:pt x="9525000" y="3154164"/>
                    <a:pt x="9377164" y="3302000"/>
                    <a:pt x="9194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525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5248275"/>
            <a:ext cx="57150" cy="2476500"/>
            <a:chOff x="0" y="0"/>
            <a:chExt cx="76200" cy="330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62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71600" y="5438775"/>
            <a:ext cx="6572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59669"/>
                </a:solidFill>
                <a:latin typeface="Antonio"/>
                <a:ea typeface="Antonio"/>
                <a:cs typeface="Antonio"/>
                <a:sym typeface="Antonio"/>
              </a:rPr>
              <a:t>Frontend Web y Móvil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1600" y="5876925"/>
            <a:ext cx="6572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Bootstrap 5 + JavaScript responsive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Catálogo interactivo con filtros avanzados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Vista adaptativa móvil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UX/UI centrada en el usuario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53450" y="5248275"/>
            <a:ext cx="7143750" cy="2476500"/>
            <a:chOff x="0" y="0"/>
            <a:chExt cx="9525000" cy="3302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9525000">
                  <a:moveTo>
                    <a:pt x="330200" y="0"/>
                  </a:moveTo>
                  <a:lnTo>
                    <a:pt x="9194800" y="0"/>
                  </a:lnTo>
                  <a:cubicBezTo>
                    <a:pt x="9377164" y="0"/>
                    <a:pt x="9525000" y="147836"/>
                    <a:pt x="9525000" y="330200"/>
                  </a:cubicBezTo>
                  <a:lnTo>
                    <a:pt x="9525000" y="2971800"/>
                  </a:lnTo>
                  <a:cubicBezTo>
                    <a:pt x="9525000" y="3154164"/>
                    <a:pt x="9377164" y="3302000"/>
                    <a:pt x="9194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525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53450" y="5248275"/>
            <a:ext cx="57150" cy="2476500"/>
            <a:chOff x="0" y="0"/>
            <a:chExt cx="76200" cy="330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62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896350" y="5438775"/>
            <a:ext cx="6572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D97706"/>
                </a:solidFill>
                <a:latin typeface="Antonio"/>
                <a:ea typeface="Antonio"/>
                <a:cs typeface="Antonio"/>
                <a:sym typeface="Antonio"/>
              </a:rPr>
              <a:t>Servicios Externos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96350" y="5876925"/>
            <a:ext cx="6572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Leaflet / OpenStreetMap para georreferenciación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Cálculo de rutas y distancias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Webpay Plus (pagos)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Notificaciones y alertas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4375"/>
            <a:ext cx="1143000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FACTIBILIDAD Y RIESGOS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Viabilidad técnica y estrategia de mitigación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76500"/>
            <a:ext cx="4953000" cy="4953000"/>
            <a:chOff x="0" y="0"/>
            <a:chExt cx="6604000" cy="660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5943600"/>
                  </a:lnTo>
                  <a:cubicBezTo>
                    <a:pt x="6604000" y="6308329"/>
                    <a:pt x="6308329" y="6604000"/>
                    <a:pt x="5943600" y="6604000"/>
                  </a:cubicBezTo>
                  <a:lnTo>
                    <a:pt x="660400" y="6604000"/>
                  </a:lnTo>
                  <a:cubicBezTo>
                    <a:pt x="295671" y="6604000"/>
                    <a:pt x="0" y="6308329"/>
                    <a:pt x="0" y="594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0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476500"/>
            <a:ext cx="57150" cy="4953000"/>
            <a:chOff x="0" y="0"/>
            <a:chExt cx="76200" cy="660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2D7F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2724150"/>
            <a:ext cx="4381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7FF9"/>
                </a:solidFill>
                <a:latin typeface="Antonio"/>
                <a:ea typeface="Antonio"/>
                <a:cs typeface="Antonio"/>
                <a:sym typeface="Antonio"/>
              </a:rPr>
              <a:t>Ecosistema Open Source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3486150"/>
            <a:ext cx="4381500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Python y Django como framework principal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MySQL como motor de base de datos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Bootstrap 5 y JavaScript para frontend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Leaflet / OpenStreetMap para georreferenciación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Sin costos de licenciamiento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62700" y="2476500"/>
            <a:ext cx="4953000" cy="4953000"/>
            <a:chOff x="0" y="0"/>
            <a:chExt cx="6604000" cy="660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5943600"/>
                  </a:lnTo>
                  <a:cubicBezTo>
                    <a:pt x="6604000" y="6308329"/>
                    <a:pt x="6308329" y="6604000"/>
                    <a:pt x="5943600" y="6604000"/>
                  </a:cubicBezTo>
                  <a:lnTo>
                    <a:pt x="660400" y="6604000"/>
                  </a:lnTo>
                  <a:cubicBezTo>
                    <a:pt x="295671" y="6604000"/>
                    <a:pt x="0" y="6308329"/>
                    <a:pt x="0" y="594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0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62700" y="2476500"/>
            <a:ext cx="57150" cy="4953000"/>
            <a:chOff x="0" y="0"/>
            <a:chExt cx="76200" cy="660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05600" y="2724150"/>
            <a:ext cx="4381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59669"/>
                </a:solidFill>
                <a:latin typeface="Antonio"/>
                <a:ea typeface="Antonio"/>
                <a:cs typeface="Antonio"/>
                <a:sym typeface="Antonio"/>
              </a:rPr>
              <a:t>Estrategia Incremental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05600" y="3200400"/>
            <a:ext cx="4381500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Metodología Scrum con sprints de 2-3 semanas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Desarrollo iterativo con entregas parciales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Validación continua con el cliente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Priorización por valor de negocio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Adaptación ágil ante cambios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696700" y="2476500"/>
            <a:ext cx="4953000" cy="4953000"/>
            <a:chOff x="0" y="0"/>
            <a:chExt cx="6604000" cy="660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5943600"/>
                  </a:lnTo>
                  <a:cubicBezTo>
                    <a:pt x="6604000" y="6308329"/>
                    <a:pt x="6308329" y="6604000"/>
                    <a:pt x="5943600" y="6604000"/>
                  </a:cubicBezTo>
                  <a:lnTo>
                    <a:pt x="660400" y="6604000"/>
                  </a:lnTo>
                  <a:cubicBezTo>
                    <a:pt x="295671" y="6604000"/>
                    <a:pt x="0" y="6308329"/>
                    <a:pt x="0" y="594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60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96700" y="2476500"/>
            <a:ext cx="57150" cy="4953000"/>
            <a:chOff x="0" y="0"/>
            <a:chExt cx="76200" cy="660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039600" y="2724150"/>
            <a:ext cx="4381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97706"/>
                </a:solidFill>
                <a:latin typeface="Antonio"/>
                <a:ea typeface="Antonio"/>
                <a:cs typeface="Antonio"/>
                <a:sym typeface="Antonio"/>
              </a:rPr>
              <a:t>Mitigación de Riesgos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39600" y="3200400"/>
            <a:ext cx="4381500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Webpay Plus en ambiente Sandbox para pruebas seguras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OpenStreetMap/Leaflet sin dependencia de APIs pagadas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Pruebas unitarias, de integración y seguridad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Repositorio Git con control de versiones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Despliegue progresivo y controlado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4375"/>
            <a:ext cx="1619250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OBJETIVO GENERAL Y ESPECÍFICOS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Meta del proyecto y desglose de objetivos técnicos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381250"/>
            <a:ext cx="16192500" cy="1333500"/>
            <a:chOff x="0" y="0"/>
            <a:chExt cx="21590000" cy="177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590000">
                  <a:moveTo>
                    <a:pt x="177800" y="0"/>
                  </a:moveTo>
                  <a:lnTo>
                    <a:pt x="21412200" y="0"/>
                  </a:lnTo>
                  <a:cubicBezTo>
                    <a:pt x="21510396" y="0"/>
                    <a:pt x="21590000" y="79604"/>
                    <a:pt x="21590000" y="177800"/>
                  </a:cubicBezTo>
                  <a:lnTo>
                    <a:pt x="21590000" y="1600200"/>
                  </a:lnTo>
                  <a:cubicBezTo>
                    <a:pt x="21590000" y="1698396"/>
                    <a:pt x="21510396" y="1778000"/>
                    <a:pt x="2141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EF2FF"/>
            </a:solidFill>
            <a:ln w="19050" cap="sq">
              <a:solidFill>
                <a:srgbClr val="1A56D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381250"/>
            <a:ext cx="57150" cy="1333500"/>
            <a:chOff x="0" y="0"/>
            <a:chExt cx="762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2476500"/>
            <a:ext cx="15621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56DB"/>
                </a:solidFill>
                <a:latin typeface="Antonio"/>
                <a:ea typeface="Antonio"/>
                <a:cs typeface="Antonio"/>
                <a:sym typeface="Antonio"/>
              </a:rPr>
              <a:t>OBJETIVO GENERAL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2862263"/>
            <a:ext cx="156210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Diseñar e implementar una plataforma tecnológica web responsive y móvil para digitalizar y optimizar la gestión de servicios de grúas, integrando cotización parametrizada, georreferenciación, validación de disponibilidad, reservas, pagos, trazabilidad operacional e indicadores para la toma de decisiones.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095750"/>
            <a:ext cx="7715250" cy="1238250"/>
            <a:chOff x="0" y="0"/>
            <a:chExt cx="10287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095750"/>
            <a:ext cx="57150" cy="1238250"/>
            <a:chOff x="0" y="0"/>
            <a:chExt cx="76200" cy="165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71600" y="423862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56DB"/>
                </a:solidFill>
                <a:latin typeface="Antonio"/>
                <a:ea typeface="Antonio"/>
                <a:cs typeface="Antonio"/>
                <a:sym typeface="Antonio"/>
              </a:rPr>
              <a:t>Modelo SQL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600" y="4524375"/>
            <a:ext cx="7143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Diseñar una base de datos relacional SQL normalizada para toda la plataforma.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05950" y="4095750"/>
            <a:ext cx="7715250" cy="1238250"/>
            <a:chOff x="0" y="0"/>
            <a:chExt cx="10287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5950" y="4095750"/>
            <a:ext cx="57150" cy="1238250"/>
            <a:chOff x="0" y="0"/>
            <a:chExt cx="762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848850" y="423862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Antonio"/>
                <a:ea typeface="Antonio"/>
                <a:cs typeface="Antonio"/>
                <a:sym typeface="Antonio"/>
              </a:rPr>
              <a:t>Backend / API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48850" y="4524375"/>
            <a:ext cx="71437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Desarrollar un Backend/API modular en Django con endpoints seguros y autenticación JWT.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5524500"/>
            <a:ext cx="7715250" cy="1238250"/>
            <a:chOff x="0" y="0"/>
            <a:chExt cx="10287000" cy="165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5524500"/>
            <a:ext cx="57150" cy="1238250"/>
            <a:chOff x="0" y="0"/>
            <a:chExt cx="76200" cy="165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71600" y="566737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59669"/>
                </a:solidFill>
                <a:latin typeface="Antonio"/>
                <a:ea typeface="Antonio"/>
                <a:cs typeface="Antonio"/>
                <a:sym typeface="Antonio"/>
              </a:rPr>
              <a:t>Motor de Cotización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5953125"/>
            <a:ext cx="71437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Construir un motor de cotización parametrizable con georreferenciación y recargos por turno.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505950" y="5524500"/>
            <a:ext cx="7715250" cy="1238250"/>
            <a:chOff x="0" y="0"/>
            <a:chExt cx="10287000" cy="165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5950" y="5524500"/>
            <a:ext cx="57150" cy="1238250"/>
            <a:chOff x="0" y="0"/>
            <a:chExt cx="762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848850" y="566737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D97706"/>
                </a:solidFill>
                <a:latin typeface="Antonio"/>
                <a:ea typeface="Antonio"/>
                <a:cs typeface="Antonio"/>
                <a:sym typeface="Antonio"/>
              </a:rPr>
              <a:t>Interfaces Web y Móvil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48850" y="5953125"/>
            <a:ext cx="7143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Crear interfaces web responsive y aplicación móvil con UX centrada en el usuario.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28700" y="6953250"/>
            <a:ext cx="7715250" cy="1238250"/>
            <a:chOff x="0" y="0"/>
            <a:chExt cx="10287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6953250"/>
            <a:ext cx="57150" cy="1238250"/>
            <a:chOff x="0" y="0"/>
            <a:chExt cx="76200" cy="1651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E53E3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371600" y="709612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53E3E"/>
                </a:solidFill>
                <a:latin typeface="Antonio"/>
                <a:ea typeface="Antonio"/>
                <a:cs typeface="Antonio"/>
                <a:sym typeface="Antonio"/>
              </a:rPr>
              <a:t>Reservas y Pagos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1600" y="7381875"/>
            <a:ext cx="71437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Integrar sistema de reservas, disponibilidad en tiempo real y pasarela Webpay Plus Sandbox.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505950" y="6953250"/>
            <a:ext cx="7715250" cy="1238250"/>
            <a:chOff x="0" y="0"/>
            <a:chExt cx="10287000" cy="165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05950" y="6953250"/>
            <a:ext cx="57150" cy="1238250"/>
            <a:chOff x="0" y="0"/>
            <a:chExt cx="76200" cy="1651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848850" y="709612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891B2"/>
                </a:solidFill>
                <a:latin typeface="Antonio"/>
                <a:ea typeface="Antonio"/>
                <a:cs typeface="Antonio"/>
                <a:sym typeface="Antonio"/>
              </a:rPr>
              <a:t>Dashboard KPIs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848850" y="7381875"/>
            <a:ext cx="71437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Desarrollar panel administrativo con dashboard de KPIs operacionales y notificaciones.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028700" y="8382000"/>
            <a:ext cx="7715250" cy="1238250"/>
            <a:chOff x="0" y="0"/>
            <a:chExt cx="10287000" cy="1651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8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287000">
                  <a:moveTo>
                    <a:pt x="165100" y="0"/>
                  </a:moveTo>
                  <a:lnTo>
                    <a:pt x="10121900" y="0"/>
                  </a:lnTo>
                  <a:cubicBezTo>
                    <a:pt x="10213082" y="0"/>
                    <a:pt x="10287000" y="73918"/>
                    <a:pt x="10287000" y="165100"/>
                  </a:cubicBezTo>
                  <a:lnTo>
                    <a:pt x="10287000" y="1485900"/>
                  </a:lnTo>
                  <a:cubicBezTo>
                    <a:pt x="10287000" y="1577082"/>
                    <a:pt x="10213082" y="1651000"/>
                    <a:pt x="10121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287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28700" y="8382000"/>
            <a:ext cx="57150" cy="1238250"/>
            <a:chOff x="0" y="0"/>
            <a:chExt cx="76200" cy="1651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371600" y="8524875"/>
            <a:ext cx="7143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D28D9"/>
                </a:solidFill>
                <a:latin typeface="Antonio"/>
                <a:ea typeface="Antonio"/>
                <a:cs typeface="Antonio"/>
                <a:sym typeface="Antonio"/>
              </a:rPr>
              <a:t>Pruebas y QA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71600" y="8810625"/>
            <a:ext cx="7143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Ejecutar pruebas unitarias, de integración, API y seguridad para certificar calidad.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4375"/>
            <a:ext cx="1619250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METODOLOGÍA DE DESARROLLO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Scrum con sprints de 2-3 semanas e iteraciones incrementales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3238500"/>
            <a:ext cx="16230600" cy="0"/>
          </a:xfrm>
          <a:prstGeom prst="line">
            <a:avLst/>
          </a:prstGeom>
          <a:ln cap="flat" w="38100">
            <a:solidFill>
              <a:srgbClr val="1A56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628900" y="3028950"/>
            <a:ext cx="419100" cy="419100"/>
            <a:chOff x="0" y="0"/>
            <a:chExt cx="5588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28900" y="2981325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714750"/>
            <a:ext cx="3619500" cy="4000500"/>
            <a:chOff x="0" y="0"/>
            <a:chExt cx="4826000" cy="533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826000">
                  <a:moveTo>
                    <a:pt x="482600" y="0"/>
                  </a:moveTo>
                  <a:lnTo>
                    <a:pt x="4343400" y="0"/>
                  </a:lnTo>
                  <a:cubicBezTo>
                    <a:pt x="4609933" y="0"/>
                    <a:pt x="4826000" y="216067"/>
                    <a:pt x="4826000" y="482600"/>
                  </a:cubicBezTo>
                  <a:lnTo>
                    <a:pt x="4826000" y="4851400"/>
                  </a:lnTo>
                  <a:cubicBezTo>
                    <a:pt x="4826000" y="5117933"/>
                    <a:pt x="4609933" y="5334000"/>
                    <a:pt x="4343400" y="5334000"/>
                  </a:cubicBezTo>
                  <a:lnTo>
                    <a:pt x="482600" y="5334000"/>
                  </a:lnTo>
                  <a:cubicBezTo>
                    <a:pt x="216067" y="5334000"/>
                    <a:pt x="0" y="5117933"/>
                    <a:pt x="0" y="4851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714750"/>
            <a:ext cx="57150" cy="4000500"/>
            <a:chOff x="0" y="0"/>
            <a:chExt cx="76200" cy="533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4450" y="3905250"/>
            <a:ext cx="3048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56DB"/>
                </a:solidFill>
                <a:latin typeface="Antonio"/>
                <a:ea typeface="Antonio"/>
                <a:cs typeface="Antonio"/>
                <a:sym typeface="Antonio"/>
              </a:rPr>
              <a:t>Planificación y Diseño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14450" y="4286250"/>
            <a:ext cx="1524000" cy="504825"/>
            <a:chOff x="0" y="0"/>
            <a:chExt cx="2032000" cy="673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000" cy="673100"/>
            </a:xfrm>
            <a:custGeom>
              <a:avLst/>
              <a:gdLst/>
              <a:ahLst/>
              <a:cxnLst/>
              <a:rect r="r" b="b" t="t" l="l"/>
              <a:pathLst>
                <a:path h="673100" w="2032000">
                  <a:moveTo>
                    <a:pt x="1695450" y="0"/>
                  </a:moveTo>
                  <a:cubicBezTo>
                    <a:pt x="1881321" y="0"/>
                    <a:pt x="2032000" y="150679"/>
                    <a:pt x="2032000" y="336550"/>
                  </a:cubicBezTo>
                  <a:cubicBezTo>
                    <a:pt x="2032000" y="522421"/>
                    <a:pt x="1881321" y="673100"/>
                    <a:pt x="1695450" y="673100"/>
                  </a:cubicBezTo>
                  <a:lnTo>
                    <a:pt x="336550" y="673100"/>
                  </a:lnTo>
                  <a:cubicBezTo>
                    <a:pt x="150679" y="673100"/>
                    <a:pt x="0" y="522421"/>
                    <a:pt x="0" y="336550"/>
                  </a:cubicBezTo>
                  <a:cubicBezTo>
                    <a:pt x="0" y="150679"/>
                    <a:pt x="150679" y="0"/>
                    <a:pt x="336550" y="0"/>
                  </a:cubicBez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32000" cy="70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Semanas 1-2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04925" y="4829175"/>
            <a:ext cx="30480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Product Backlog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Modelo de datos SQL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Arquitectura Backend/API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Prototipado inicial UI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29425" y="3028950"/>
            <a:ext cx="419100" cy="419100"/>
            <a:chOff x="0" y="0"/>
            <a:chExt cx="558800" cy="55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829425" y="2981325"/>
            <a:ext cx="419100" cy="44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</a:pPr>
            <a:r>
              <a:rPr lang="en-US" sz="2608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E2a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29225" y="3714750"/>
            <a:ext cx="3619500" cy="4000500"/>
            <a:chOff x="0" y="0"/>
            <a:chExt cx="4826000" cy="533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2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826000">
                  <a:moveTo>
                    <a:pt x="482600" y="0"/>
                  </a:moveTo>
                  <a:lnTo>
                    <a:pt x="4343400" y="0"/>
                  </a:lnTo>
                  <a:cubicBezTo>
                    <a:pt x="4609933" y="0"/>
                    <a:pt x="4826000" y="216067"/>
                    <a:pt x="4826000" y="482600"/>
                  </a:cubicBezTo>
                  <a:lnTo>
                    <a:pt x="4826000" y="4851400"/>
                  </a:lnTo>
                  <a:cubicBezTo>
                    <a:pt x="4826000" y="5117933"/>
                    <a:pt x="4609933" y="5334000"/>
                    <a:pt x="4343400" y="5334000"/>
                  </a:cubicBezTo>
                  <a:lnTo>
                    <a:pt x="482600" y="5334000"/>
                  </a:lnTo>
                  <a:cubicBezTo>
                    <a:pt x="216067" y="5334000"/>
                    <a:pt x="0" y="5117933"/>
                    <a:pt x="0" y="4851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2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29225" y="3714750"/>
            <a:ext cx="57150" cy="4000500"/>
            <a:chOff x="0" y="0"/>
            <a:chExt cx="76200" cy="533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514975" y="3905250"/>
            <a:ext cx="3048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59669"/>
                </a:solidFill>
                <a:latin typeface="Antonio"/>
                <a:ea typeface="Antonio"/>
                <a:cs typeface="Antonio"/>
                <a:sym typeface="Antonio"/>
              </a:rPr>
              <a:t>Sprints 1-3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514975" y="4286250"/>
            <a:ext cx="1524000" cy="504825"/>
            <a:chOff x="0" y="0"/>
            <a:chExt cx="2032000" cy="673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0" cy="673100"/>
            </a:xfrm>
            <a:custGeom>
              <a:avLst/>
              <a:gdLst/>
              <a:ahLst/>
              <a:cxnLst/>
              <a:rect r="r" b="b" t="t" l="l"/>
              <a:pathLst>
                <a:path h="673100" w="2032000">
                  <a:moveTo>
                    <a:pt x="1695450" y="0"/>
                  </a:moveTo>
                  <a:cubicBezTo>
                    <a:pt x="1881321" y="0"/>
                    <a:pt x="2032000" y="150679"/>
                    <a:pt x="2032000" y="336550"/>
                  </a:cubicBezTo>
                  <a:cubicBezTo>
                    <a:pt x="2032000" y="522421"/>
                    <a:pt x="1881321" y="673100"/>
                    <a:pt x="1695450" y="673100"/>
                  </a:cubicBezTo>
                  <a:lnTo>
                    <a:pt x="336550" y="673100"/>
                  </a:lnTo>
                  <a:cubicBezTo>
                    <a:pt x="150679" y="673100"/>
                    <a:pt x="0" y="522421"/>
                    <a:pt x="0" y="336550"/>
                  </a:cubicBezTo>
                  <a:cubicBezTo>
                    <a:pt x="0" y="150679"/>
                    <a:pt x="150679" y="0"/>
                    <a:pt x="336550" y="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32000" cy="70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Semanas 3-8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14975" y="4819650"/>
            <a:ext cx="304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Entorno, BD y autenticación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Motor de cotización y geo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Frontend web y catálogo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29950" y="3028950"/>
            <a:ext cx="419100" cy="419100"/>
            <a:chOff x="0" y="0"/>
            <a:chExt cx="558800" cy="55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029950" y="2981325"/>
            <a:ext cx="419100" cy="44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6"/>
              </a:lnSpc>
            </a:pPr>
            <a:r>
              <a:rPr lang="en-US" sz="2597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E2b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29750" y="3714750"/>
            <a:ext cx="3619500" cy="4000500"/>
            <a:chOff x="0" y="0"/>
            <a:chExt cx="4826000" cy="533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2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826000">
                  <a:moveTo>
                    <a:pt x="482600" y="0"/>
                  </a:moveTo>
                  <a:lnTo>
                    <a:pt x="4343400" y="0"/>
                  </a:lnTo>
                  <a:cubicBezTo>
                    <a:pt x="4609933" y="0"/>
                    <a:pt x="4826000" y="216067"/>
                    <a:pt x="4826000" y="482600"/>
                  </a:cubicBezTo>
                  <a:lnTo>
                    <a:pt x="4826000" y="4851400"/>
                  </a:lnTo>
                  <a:cubicBezTo>
                    <a:pt x="4826000" y="5117933"/>
                    <a:pt x="4609933" y="5334000"/>
                    <a:pt x="4343400" y="5334000"/>
                  </a:cubicBezTo>
                  <a:lnTo>
                    <a:pt x="482600" y="5334000"/>
                  </a:lnTo>
                  <a:cubicBezTo>
                    <a:pt x="216067" y="5334000"/>
                    <a:pt x="0" y="5117933"/>
                    <a:pt x="0" y="4851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82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29750" y="3714750"/>
            <a:ext cx="57150" cy="4000500"/>
            <a:chOff x="0" y="0"/>
            <a:chExt cx="76200" cy="533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62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715500" y="3905250"/>
            <a:ext cx="3048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97706"/>
                </a:solidFill>
                <a:latin typeface="Antonio"/>
                <a:ea typeface="Antonio"/>
                <a:cs typeface="Antonio"/>
                <a:sym typeface="Antonio"/>
              </a:rPr>
              <a:t>Sprints 4-6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715500" y="4286250"/>
            <a:ext cx="1524000" cy="504825"/>
            <a:chOff x="0" y="0"/>
            <a:chExt cx="2032000" cy="673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32000" cy="673100"/>
            </a:xfrm>
            <a:custGeom>
              <a:avLst/>
              <a:gdLst/>
              <a:ahLst/>
              <a:cxnLst/>
              <a:rect r="r" b="b" t="t" l="l"/>
              <a:pathLst>
                <a:path h="673100" w="2032000">
                  <a:moveTo>
                    <a:pt x="1695450" y="0"/>
                  </a:moveTo>
                  <a:cubicBezTo>
                    <a:pt x="1881321" y="0"/>
                    <a:pt x="2032000" y="150679"/>
                    <a:pt x="2032000" y="336550"/>
                  </a:cubicBezTo>
                  <a:cubicBezTo>
                    <a:pt x="2032000" y="522421"/>
                    <a:pt x="1881321" y="673100"/>
                    <a:pt x="1695450" y="673100"/>
                  </a:cubicBezTo>
                  <a:lnTo>
                    <a:pt x="336550" y="673100"/>
                  </a:lnTo>
                  <a:cubicBezTo>
                    <a:pt x="150679" y="673100"/>
                    <a:pt x="0" y="522421"/>
                    <a:pt x="0" y="336550"/>
                  </a:cubicBezTo>
                  <a:cubicBezTo>
                    <a:pt x="0" y="150679"/>
                    <a:pt x="150679" y="0"/>
                    <a:pt x="336550" y="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032000" cy="70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Semanas 8-11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05975" y="4819650"/>
            <a:ext cx="304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Reservas y pagos sandbox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App móvil y asignación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Dashboard KPIs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240000" y="3028950"/>
            <a:ext cx="419100" cy="419100"/>
            <a:chOff x="0" y="0"/>
            <a:chExt cx="558800" cy="55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E53E3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5240000" y="2981325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E3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639800" y="3714750"/>
            <a:ext cx="3619500" cy="4000500"/>
            <a:chOff x="0" y="0"/>
            <a:chExt cx="4826000" cy="533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2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826000">
                  <a:moveTo>
                    <a:pt x="482600" y="0"/>
                  </a:moveTo>
                  <a:lnTo>
                    <a:pt x="4343400" y="0"/>
                  </a:lnTo>
                  <a:cubicBezTo>
                    <a:pt x="4609933" y="0"/>
                    <a:pt x="4826000" y="216067"/>
                    <a:pt x="4826000" y="482600"/>
                  </a:cubicBezTo>
                  <a:lnTo>
                    <a:pt x="4826000" y="4851400"/>
                  </a:lnTo>
                  <a:cubicBezTo>
                    <a:pt x="4826000" y="5117933"/>
                    <a:pt x="4609933" y="5334000"/>
                    <a:pt x="4343400" y="5334000"/>
                  </a:cubicBezTo>
                  <a:lnTo>
                    <a:pt x="482600" y="5334000"/>
                  </a:lnTo>
                  <a:cubicBezTo>
                    <a:pt x="216067" y="5334000"/>
                    <a:pt x="0" y="5117933"/>
                    <a:pt x="0" y="4851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82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39800" y="3714750"/>
            <a:ext cx="57150" cy="4000500"/>
            <a:chOff x="0" y="0"/>
            <a:chExt cx="76200" cy="5334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53E3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62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925550" y="3905250"/>
            <a:ext cx="3048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E53E3E"/>
                </a:solidFill>
                <a:latin typeface="Antonio"/>
                <a:ea typeface="Antonio"/>
                <a:cs typeface="Antonio"/>
                <a:sym typeface="Antonio"/>
              </a:rPr>
              <a:t>QA, Cierre y Despliegue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925550" y="4286250"/>
            <a:ext cx="1524000" cy="504825"/>
            <a:chOff x="0" y="0"/>
            <a:chExt cx="2032000" cy="673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32000" cy="673100"/>
            </a:xfrm>
            <a:custGeom>
              <a:avLst/>
              <a:gdLst/>
              <a:ahLst/>
              <a:cxnLst/>
              <a:rect r="r" b="b" t="t" l="l"/>
              <a:pathLst>
                <a:path h="673100" w="2032000">
                  <a:moveTo>
                    <a:pt x="1695450" y="0"/>
                  </a:moveTo>
                  <a:cubicBezTo>
                    <a:pt x="1881321" y="0"/>
                    <a:pt x="2032000" y="150679"/>
                    <a:pt x="2032000" y="336550"/>
                  </a:cubicBezTo>
                  <a:cubicBezTo>
                    <a:pt x="2032000" y="522421"/>
                    <a:pt x="1881321" y="673100"/>
                    <a:pt x="1695450" y="673100"/>
                  </a:cubicBezTo>
                  <a:lnTo>
                    <a:pt x="336550" y="673100"/>
                  </a:lnTo>
                  <a:cubicBezTo>
                    <a:pt x="150679" y="673100"/>
                    <a:pt x="0" y="522421"/>
                    <a:pt x="0" y="336550"/>
                  </a:cubicBezTo>
                  <a:cubicBezTo>
                    <a:pt x="0" y="150679"/>
                    <a:pt x="150679" y="0"/>
                    <a:pt x="336550" y="0"/>
                  </a:cubicBezTo>
                  <a:close/>
                </a:path>
              </a:pathLst>
            </a:custGeom>
            <a:solidFill>
              <a:srgbClr val="E53E3E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032000" cy="70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Semanas 12-14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925550" y="4819650"/>
            <a:ext cx="304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Pruebas unitarias y API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Pruebas de seguridad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• Despliegue funcional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150"/>
            <a:ext cx="16192500" cy="119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1"/>
              </a:lnSpc>
            </a:pPr>
            <a:r>
              <a:rPr lang="en-US" sz="7015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DISTRIBUCIÓN DE ROLES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Responsabilidades técnicas de cada integrante del equipo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76500"/>
            <a:ext cx="7429500" cy="5524500"/>
            <a:chOff x="0" y="0"/>
            <a:chExt cx="9906000" cy="736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9906000">
                  <a:moveTo>
                    <a:pt x="736600" y="0"/>
                  </a:moveTo>
                  <a:lnTo>
                    <a:pt x="9169400" y="0"/>
                  </a:lnTo>
                  <a:cubicBezTo>
                    <a:pt x="9576213" y="0"/>
                    <a:pt x="9906000" y="329787"/>
                    <a:pt x="9906000" y="736600"/>
                  </a:cubicBezTo>
                  <a:lnTo>
                    <a:pt x="9906000" y="6629400"/>
                  </a:lnTo>
                  <a:cubicBezTo>
                    <a:pt x="9906000" y="7036213"/>
                    <a:pt x="9576213" y="7366000"/>
                    <a:pt x="9169400" y="7366000"/>
                  </a:cubicBezTo>
                  <a:lnTo>
                    <a:pt x="736600" y="7366000"/>
                  </a:lnTo>
                  <a:cubicBezTo>
                    <a:pt x="329787" y="7366000"/>
                    <a:pt x="0" y="7036213"/>
                    <a:pt x="0" y="6629400"/>
                  </a:cubicBezTo>
                  <a:lnTo>
                    <a:pt x="0" y="736600"/>
                  </a:lnTo>
                  <a:cubicBezTo>
                    <a:pt x="0" y="329787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90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476500"/>
            <a:ext cx="57150" cy="5524500"/>
            <a:chOff x="0" y="0"/>
            <a:chExt cx="76200" cy="736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4450" y="2762250"/>
            <a:ext cx="571500" cy="571500"/>
            <a:chOff x="0" y="0"/>
            <a:chExt cx="76200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4450" y="2686050"/>
            <a:ext cx="571500" cy="64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2"/>
              </a:lnSpc>
            </a:pPr>
            <a:r>
              <a:rPr lang="en-US" sz="3801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GB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6450" y="2781300"/>
            <a:ext cx="381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A56DB"/>
                </a:solidFill>
                <a:latin typeface="Antonio"/>
                <a:ea typeface="Antonio"/>
                <a:cs typeface="Antonio"/>
                <a:sym typeface="Antonio"/>
              </a:rPr>
              <a:t>Gibran Beiza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6450" y="3095625"/>
            <a:ext cx="3810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Arquitectura, Backend y Persistencia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9700" y="3676650"/>
            <a:ext cx="6667500" cy="30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Modelo de datos SQL relacional y migraciones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Backend / API REST modular en Django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Motor de cotizaciones parametrizable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Seguridad: autenticación 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Gestión de repositorio Git / GitHub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Arquitectura de software general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29700" y="2476500"/>
            <a:ext cx="7429500" cy="5524500"/>
            <a:chOff x="0" y="0"/>
            <a:chExt cx="9906000" cy="736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0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9906000">
                  <a:moveTo>
                    <a:pt x="736600" y="0"/>
                  </a:moveTo>
                  <a:lnTo>
                    <a:pt x="9169400" y="0"/>
                  </a:lnTo>
                  <a:cubicBezTo>
                    <a:pt x="9576213" y="0"/>
                    <a:pt x="9906000" y="329787"/>
                    <a:pt x="9906000" y="736600"/>
                  </a:cubicBezTo>
                  <a:lnTo>
                    <a:pt x="9906000" y="6629400"/>
                  </a:lnTo>
                  <a:cubicBezTo>
                    <a:pt x="9906000" y="7036213"/>
                    <a:pt x="9576213" y="7366000"/>
                    <a:pt x="9169400" y="7366000"/>
                  </a:cubicBezTo>
                  <a:lnTo>
                    <a:pt x="736600" y="7366000"/>
                  </a:lnTo>
                  <a:cubicBezTo>
                    <a:pt x="329787" y="7366000"/>
                    <a:pt x="0" y="7036213"/>
                    <a:pt x="0" y="6629400"/>
                  </a:cubicBezTo>
                  <a:lnTo>
                    <a:pt x="0" y="736600"/>
                  </a:lnTo>
                  <a:cubicBezTo>
                    <a:pt x="0" y="329787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0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29700" y="2476500"/>
            <a:ext cx="57150" cy="5524500"/>
            <a:chOff x="0" y="0"/>
            <a:chExt cx="76200" cy="736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15450" y="2762250"/>
            <a:ext cx="571500" cy="571500"/>
            <a:chOff x="0" y="0"/>
            <a:chExt cx="762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315450" y="2686050"/>
            <a:ext cx="571500" cy="64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2"/>
              </a:lnSpc>
            </a:pPr>
            <a:r>
              <a:rPr lang="en-US" sz="3801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JV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77450" y="2781300"/>
            <a:ext cx="381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59669"/>
                </a:solidFill>
                <a:latin typeface="Antonio"/>
                <a:ea typeface="Antonio"/>
                <a:cs typeface="Antonio"/>
                <a:sym typeface="Antonio"/>
              </a:rPr>
              <a:t>Jordan Vergara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77450" y="3095625"/>
            <a:ext cx="3810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Interfaces, Integraciones y QA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10700" y="3676650"/>
            <a:ext cx="6667500" cy="30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Interfaces web responsive con Bootstrap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Aplicación móvil adaptativa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Integración de mapas en tiempo real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Pasarela de pagos Webpay Plus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Dashboard administrativo y KPIs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✓  Pruebas funcionales y de integración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150"/>
            <a:ext cx="16192500" cy="119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1"/>
              </a:lnSpc>
            </a:pPr>
            <a:r>
              <a:rPr lang="en-US" sz="7015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EVIDENCIAS DE EVALUACIÓN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Entregables técnicos que respaldan el avance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76500"/>
            <a:ext cx="1905000" cy="476250"/>
            <a:chOff x="0" y="0"/>
            <a:chExt cx="2540000" cy="63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40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04900" y="2581275"/>
            <a:ext cx="1752600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Tipo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33700" y="2476500"/>
            <a:ext cx="2857500" cy="476250"/>
            <a:chOff x="0" y="0"/>
            <a:chExt cx="3810000" cy="63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09900" y="2581275"/>
            <a:ext cx="2705100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Nombre Evidencia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91200" y="2476500"/>
            <a:ext cx="5238750" cy="476250"/>
            <a:chOff x="0" y="0"/>
            <a:chExt cx="6985000" cy="63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98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67400" y="2581275"/>
            <a:ext cx="5086350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Descripción Técnica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029950" y="2476500"/>
            <a:ext cx="5238750" cy="476250"/>
            <a:chOff x="0" y="0"/>
            <a:chExt cx="6985000" cy="63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8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985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106150" y="2581275"/>
            <a:ext cx="5086350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Justificación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2952750"/>
            <a:ext cx="1905000" cy="571500"/>
            <a:chOff x="0" y="0"/>
            <a:chExt cx="254000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23950" y="31242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933700" y="2952750"/>
            <a:ext cx="2857500" cy="571500"/>
            <a:chOff x="0" y="0"/>
            <a:chExt cx="3810000" cy="76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028950" y="31242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Repositorio GitHub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791200" y="2952750"/>
            <a:ext cx="5238750" cy="571500"/>
            <a:chOff x="0" y="0"/>
            <a:chExt cx="6985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886450" y="3019425"/>
            <a:ext cx="5048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Repositorio con control de versiones, ramas y commits del proyecto completo.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9950" y="2952750"/>
            <a:ext cx="5238750" cy="571500"/>
            <a:chOff x="0" y="0"/>
            <a:chExt cx="698500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125200" y="3124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Demuestra gestión de código y trabajo colaborativo.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28700" y="3524250"/>
            <a:ext cx="1905000" cy="571500"/>
            <a:chOff x="0" y="0"/>
            <a:chExt cx="2540000" cy="76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23950" y="36957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933700" y="3524250"/>
            <a:ext cx="2857500" cy="571500"/>
            <a:chOff x="0" y="0"/>
            <a:chExt cx="38100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028950" y="3695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Modelo SQL y Migración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791200" y="3524250"/>
            <a:ext cx="5238750" cy="571500"/>
            <a:chOff x="0" y="0"/>
            <a:chExt cx="6985000" cy="762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886450" y="3590925"/>
            <a:ext cx="5048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Modelo relacional normalizado con migraciones directas al host comprado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029950" y="3524250"/>
            <a:ext cx="5238750" cy="571500"/>
            <a:chOff x="0" y="0"/>
            <a:chExt cx="69850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125200" y="3695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Valida diseño de datos y persistencia.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28700" y="4095750"/>
            <a:ext cx="1905000" cy="571500"/>
            <a:chOff x="0" y="0"/>
            <a:chExt cx="2540000" cy="76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23950" y="42672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933700" y="4095750"/>
            <a:ext cx="2857500" cy="571500"/>
            <a:chOff x="0" y="0"/>
            <a:chExt cx="3810000" cy="762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3028950" y="42672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Backend API Django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791200" y="4095750"/>
            <a:ext cx="5238750" cy="571500"/>
            <a:chOff x="0" y="0"/>
            <a:chExt cx="69850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886450" y="4267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API REST modular con endpoints seguros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029950" y="4095750"/>
            <a:ext cx="5238750" cy="571500"/>
            <a:chOff x="0" y="0"/>
            <a:chExt cx="6985000" cy="762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1125200" y="4267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Certifica arquitectura backend funcional.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28700" y="4667250"/>
            <a:ext cx="1905000" cy="571500"/>
            <a:chOff x="0" y="0"/>
            <a:chExt cx="2540000" cy="762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123950" y="48387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2933700" y="4667250"/>
            <a:ext cx="2857500" cy="571500"/>
            <a:chOff x="0" y="0"/>
            <a:chExt cx="3810000" cy="762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3028950" y="4838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Autenticación y Roles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5791200" y="4667250"/>
            <a:ext cx="5238750" cy="571500"/>
            <a:chOff x="0" y="0"/>
            <a:chExt cx="6985000" cy="762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5886450" y="4838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Módulo de login, registro y control de acceso por roles.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1029950" y="4667250"/>
            <a:ext cx="5238750" cy="571500"/>
            <a:chOff x="0" y="0"/>
            <a:chExt cx="6985000" cy="762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125200" y="4838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Garantiza seguridad de acceso al sistema.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28700" y="5238750"/>
            <a:ext cx="1905000" cy="571500"/>
            <a:chOff x="0" y="0"/>
            <a:chExt cx="2540000" cy="762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123950" y="54102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2933700" y="5238750"/>
            <a:ext cx="2857500" cy="571500"/>
            <a:chOff x="0" y="0"/>
            <a:chExt cx="3810000" cy="762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3028950" y="54102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Frontend y Catálogo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5791200" y="5238750"/>
            <a:ext cx="5238750" cy="571500"/>
            <a:chOff x="0" y="0"/>
            <a:chExt cx="6985000" cy="7620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5886450" y="5410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Interfaz web responsive con catálogo de maquinaria y filtros.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1029950" y="5238750"/>
            <a:ext cx="5238750" cy="571500"/>
            <a:chOff x="0" y="0"/>
            <a:chExt cx="6985000" cy="762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1125200" y="5410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Demuestra desarrollo de interfaces de usuario.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028700" y="5810250"/>
            <a:ext cx="1905000" cy="571500"/>
            <a:chOff x="0" y="0"/>
            <a:chExt cx="2540000" cy="762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23950" y="59817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2933700" y="5810250"/>
            <a:ext cx="2857500" cy="571500"/>
            <a:chOff x="0" y="0"/>
            <a:chExt cx="3810000" cy="762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3028950" y="5981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Motor de Cotización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5791200" y="5810250"/>
            <a:ext cx="5238750" cy="571500"/>
            <a:chOff x="0" y="0"/>
            <a:chExt cx="6985000" cy="7620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5886450" y="5981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Cotización dinámica con recargos, turnos y georreferenciación.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1029950" y="5810250"/>
            <a:ext cx="5238750" cy="571500"/>
            <a:chOff x="0" y="0"/>
            <a:chExt cx="6985000" cy="7620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11125200" y="5981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Valida lógica de negocio parametrizable.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028700" y="6381750"/>
            <a:ext cx="1905000" cy="571500"/>
            <a:chOff x="0" y="0"/>
            <a:chExt cx="2540000" cy="7620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123950" y="65532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Avance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2933700" y="6381750"/>
            <a:ext cx="2857500" cy="571500"/>
            <a:chOff x="0" y="0"/>
            <a:chExt cx="3810000" cy="7620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3028950" y="65532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Webpay Plus Sandbox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5791200" y="6381750"/>
            <a:ext cx="5238750" cy="571500"/>
            <a:chOff x="0" y="0"/>
            <a:chExt cx="6985000" cy="7620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5886450" y="6553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pasarela de pagos en ambiente de pruebas.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1029950" y="6381750"/>
            <a:ext cx="5238750" cy="571500"/>
            <a:chOff x="0" y="0"/>
            <a:chExt cx="6985000" cy="7620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11125200" y="6553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Certifica flujo transaccional desacoplado.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1028700" y="6953250"/>
            <a:ext cx="1905000" cy="571500"/>
            <a:chOff x="0" y="0"/>
            <a:chExt cx="2540000" cy="7620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123950" y="71247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Final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2933700" y="6953250"/>
            <a:ext cx="2857500" cy="571500"/>
            <a:chOff x="0" y="0"/>
            <a:chExt cx="3810000" cy="7620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9" id="139"/>
          <p:cNvSpPr txBox="true"/>
          <p:nvPr/>
        </p:nvSpPr>
        <p:spPr>
          <a:xfrm rot="0">
            <a:off x="3028950" y="7124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Dashboard KPIs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5791200" y="6953250"/>
            <a:ext cx="5238750" cy="571500"/>
            <a:chOff x="0" y="0"/>
            <a:chExt cx="6985000" cy="7620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5886450" y="7124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Panel administrativo con indicadores operacionales en tiempo real.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11029950" y="6953250"/>
            <a:ext cx="5238750" cy="571500"/>
            <a:chOff x="0" y="0"/>
            <a:chExt cx="6985000" cy="7620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1125200" y="7124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Herramienta de toma de decisiones gerencial.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028700" y="7524750"/>
            <a:ext cx="1905000" cy="571500"/>
            <a:chOff x="0" y="0"/>
            <a:chExt cx="2540000" cy="7620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1123950" y="76962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Final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2933700" y="7524750"/>
            <a:ext cx="2857500" cy="571500"/>
            <a:chOff x="0" y="0"/>
            <a:chExt cx="3810000" cy="7620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5" id="155"/>
          <p:cNvSpPr txBox="true"/>
          <p:nvPr/>
        </p:nvSpPr>
        <p:spPr>
          <a:xfrm rot="0">
            <a:off x="3028950" y="76962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Informe de Pruebas</a:t>
            </a:r>
          </a:p>
        </p:txBody>
      </p:sp>
      <p:grpSp>
        <p:nvGrpSpPr>
          <p:cNvPr name="Group 156" id="156"/>
          <p:cNvGrpSpPr/>
          <p:nvPr/>
        </p:nvGrpSpPr>
        <p:grpSpPr>
          <a:xfrm rot="0">
            <a:off x="5791200" y="7524750"/>
            <a:ext cx="5238750" cy="571500"/>
            <a:chOff x="0" y="0"/>
            <a:chExt cx="6985000" cy="7620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5886450" y="7696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Plan de pruebas unitarias, integración, API y seguridad.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1029950" y="7524750"/>
            <a:ext cx="5238750" cy="571500"/>
            <a:chOff x="0" y="0"/>
            <a:chExt cx="6985000" cy="7620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3" id="163"/>
          <p:cNvSpPr txBox="true"/>
          <p:nvPr/>
        </p:nvSpPr>
        <p:spPr>
          <a:xfrm rot="0">
            <a:off x="11125200" y="76962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Certificación de calidad del producto.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028700" y="8096250"/>
            <a:ext cx="1905000" cy="571500"/>
            <a:chOff x="0" y="0"/>
            <a:chExt cx="2540000" cy="7620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54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54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123950" y="8267700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Final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2933700" y="8096250"/>
            <a:ext cx="2857500" cy="571500"/>
            <a:chOff x="0" y="0"/>
            <a:chExt cx="3810000" cy="7620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381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1" id="171"/>
          <p:cNvSpPr txBox="true"/>
          <p:nvPr/>
        </p:nvSpPr>
        <p:spPr>
          <a:xfrm rot="0">
            <a:off x="3028950" y="8267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Plataforma Integrada</a:t>
            </a:r>
          </a:p>
        </p:txBody>
      </p:sp>
      <p:grpSp>
        <p:nvGrpSpPr>
          <p:cNvPr name="Group 172" id="172"/>
          <p:cNvGrpSpPr/>
          <p:nvPr/>
        </p:nvGrpSpPr>
        <p:grpSpPr>
          <a:xfrm rot="0">
            <a:off x="5791200" y="8096250"/>
            <a:ext cx="5238750" cy="571500"/>
            <a:chOff x="0" y="0"/>
            <a:chExt cx="6985000" cy="76200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5" id="175"/>
          <p:cNvSpPr txBox="true"/>
          <p:nvPr/>
        </p:nvSpPr>
        <p:spPr>
          <a:xfrm rot="0">
            <a:off x="5886450" y="8267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Sistema web y móvil completo desplegado y funcional.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11029950" y="8096250"/>
            <a:ext cx="5238750" cy="571500"/>
            <a:chOff x="0" y="0"/>
            <a:chExt cx="6985000" cy="7620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98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985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9" id="179"/>
          <p:cNvSpPr txBox="true"/>
          <p:nvPr/>
        </p:nvSpPr>
        <p:spPr>
          <a:xfrm rot="0">
            <a:off x="11125200" y="8267700"/>
            <a:ext cx="50482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Entregable final del proyecto APT.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150"/>
            <a:ext cx="16192500" cy="119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1"/>
              </a:lnSpc>
            </a:pPr>
            <a:r>
              <a:rPr lang="en-US" sz="7015">
                <a:solidFill>
                  <a:srgbClr val="0A1628"/>
                </a:solidFill>
                <a:latin typeface="Anton"/>
                <a:ea typeface="Anton"/>
                <a:cs typeface="Anton"/>
                <a:sym typeface="Anton"/>
              </a:rPr>
              <a:t>PLAN DE TRABAJO Y AVANCE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954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270"/>
                </a:solidFill>
                <a:latin typeface="Open Sauce"/>
                <a:ea typeface="Open Sauce"/>
                <a:cs typeface="Open Sauce"/>
                <a:sym typeface="Open Sauce"/>
              </a:rPr>
              <a:t>Actividades principales, plazos y responsables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76500"/>
            <a:ext cx="2667000" cy="476250"/>
            <a:chOff x="0" y="0"/>
            <a:chExt cx="3556000" cy="63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6000" cy="635000"/>
            </a:xfrm>
            <a:custGeom>
              <a:avLst/>
              <a:gdLst/>
              <a:ahLst/>
              <a:cxnLst/>
              <a:rect r="r" b="b" t="t" l="l"/>
              <a:pathLst>
                <a:path h="635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56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04900" y="2571750"/>
            <a:ext cx="25146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Actividad / Tarea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95700" y="2476500"/>
            <a:ext cx="4572000" cy="476250"/>
            <a:chOff x="0" y="0"/>
            <a:chExt cx="6096000" cy="63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71900" y="2571750"/>
            <a:ext cx="44196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Descripción del Trabajo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67700" y="2476500"/>
            <a:ext cx="1714500" cy="476250"/>
            <a:chOff x="0" y="0"/>
            <a:chExt cx="2286000" cy="63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0" cy="635000"/>
            </a:xfrm>
            <a:custGeom>
              <a:avLst/>
              <a:gdLst/>
              <a:ahLst/>
              <a:cxnLst/>
              <a:rect r="r" b="b" t="t" l="l"/>
              <a:pathLst>
                <a:path h="635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6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343900" y="2571750"/>
            <a:ext cx="15621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Plazo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82200" y="2476500"/>
            <a:ext cx="1905000" cy="476250"/>
            <a:chOff x="0" y="0"/>
            <a:chExt cx="2540000" cy="63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058400" y="2571750"/>
            <a:ext cx="17526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Responsable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87200" y="2476500"/>
            <a:ext cx="3429000" cy="476250"/>
            <a:chOff x="0" y="0"/>
            <a:chExt cx="4572000" cy="63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635000"/>
            </a:xfrm>
            <a:custGeom>
              <a:avLst/>
              <a:gdLst/>
              <a:ahLst/>
              <a:cxnLst/>
              <a:rect r="r" b="b" t="t" l="l"/>
              <a:pathLst>
                <a:path h="635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56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72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963400" y="2571750"/>
            <a:ext cx="32766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Estrategia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2952750"/>
            <a:ext cx="2667000" cy="533400"/>
            <a:chOff x="0" y="0"/>
            <a:chExt cx="35560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23950" y="31051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Product Backlog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695700" y="2952750"/>
            <a:ext cx="4572000" cy="533400"/>
            <a:chOff x="0" y="0"/>
            <a:chExt cx="60960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790950" y="3009900"/>
            <a:ext cx="438150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Levantamiento de requerimientos y priorización de historias de usuario.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67700" y="2952750"/>
            <a:ext cx="1714500" cy="533400"/>
            <a:chOff x="0" y="0"/>
            <a:chExt cx="22860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362950" y="31051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1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82200" y="2952750"/>
            <a:ext cx="1905000" cy="533400"/>
            <a:chOff x="0" y="0"/>
            <a:chExt cx="2540000" cy="711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77450" y="31051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Ambos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887200" y="2952750"/>
            <a:ext cx="3429000" cy="533400"/>
            <a:chOff x="0" y="0"/>
            <a:chExt cx="45720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982450" y="31051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Reuniones de planificación Scrum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28700" y="3486150"/>
            <a:ext cx="2667000" cy="533400"/>
            <a:chOff x="0" y="0"/>
            <a:chExt cx="35560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23950" y="36385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Modelo SQL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3695700" y="3486150"/>
            <a:ext cx="4572000" cy="533400"/>
            <a:chOff x="0" y="0"/>
            <a:chExt cx="6096000" cy="711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90950" y="36385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Diseño del modelo relacional normalizado y migraciones.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67700" y="3486150"/>
            <a:ext cx="1714500" cy="533400"/>
            <a:chOff x="0" y="0"/>
            <a:chExt cx="2286000" cy="711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8362950" y="36385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1-2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82200" y="3486150"/>
            <a:ext cx="1905000" cy="533400"/>
            <a:chOff x="0" y="0"/>
            <a:chExt cx="2540000" cy="711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077450" y="36385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Gibran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1887200" y="3486150"/>
            <a:ext cx="3429000" cy="533400"/>
            <a:chOff x="0" y="0"/>
            <a:chExt cx="4572000" cy="711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982450" y="36385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Django ORM + revisión cruzada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28700" y="4019550"/>
            <a:ext cx="2667000" cy="533400"/>
            <a:chOff x="0" y="0"/>
            <a:chExt cx="3556000" cy="711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123950" y="41719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Arquitectura API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3695700" y="4019550"/>
            <a:ext cx="4572000" cy="533400"/>
            <a:chOff x="0" y="0"/>
            <a:chExt cx="6096000" cy="711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3790950" y="41719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Diseño de endpoints REST y estructura modular Django.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67700" y="4019550"/>
            <a:ext cx="1714500" cy="533400"/>
            <a:chOff x="0" y="0"/>
            <a:chExt cx="2286000" cy="711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8362950" y="41719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2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982200" y="4019550"/>
            <a:ext cx="1905000" cy="533400"/>
            <a:chOff x="0" y="0"/>
            <a:chExt cx="2540000" cy="711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0077450" y="41719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Gibran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1887200" y="4019550"/>
            <a:ext cx="3429000" cy="533400"/>
            <a:chOff x="0" y="0"/>
            <a:chExt cx="4572000" cy="711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982450" y="41719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técnica previa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28700" y="4552950"/>
            <a:ext cx="2667000" cy="533400"/>
            <a:chOff x="0" y="0"/>
            <a:chExt cx="3556000" cy="711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123950" y="47053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1: Entorno y Auth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3695700" y="4552950"/>
            <a:ext cx="4572000" cy="533400"/>
            <a:chOff x="0" y="0"/>
            <a:chExt cx="6096000" cy="711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3790950" y="47053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Configuración, BD, autenticación y control de roles.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8267700" y="4552950"/>
            <a:ext cx="1714500" cy="533400"/>
            <a:chOff x="0" y="0"/>
            <a:chExt cx="2286000" cy="711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8362950" y="47053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3-4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982200" y="4552950"/>
            <a:ext cx="1905000" cy="533400"/>
            <a:chOff x="0" y="0"/>
            <a:chExt cx="2540000" cy="7112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0077450" y="47053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Ambos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1887200" y="4552950"/>
            <a:ext cx="3429000" cy="533400"/>
            <a:chOff x="0" y="0"/>
            <a:chExt cx="4572000" cy="7112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982450" y="47053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CI/CD + pruebas unitarias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28700" y="5086350"/>
            <a:ext cx="2667000" cy="533400"/>
            <a:chOff x="0" y="0"/>
            <a:chExt cx="3556000" cy="711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123950" y="52387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2: Cotización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3695700" y="5086350"/>
            <a:ext cx="4572000" cy="533400"/>
            <a:chOff x="0" y="0"/>
            <a:chExt cx="6096000" cy="7112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3790950" y="52387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Motor de cotización parametrizable y georreferenciación.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8267700" y="5086350"/>
            <a:ext cx="1714500" cy="533400"/>
            <a:chOff x="0" y="0"/>
            <a:chExt cx="2286000" cy="7112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8362950" y="52387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5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9982200" y="5086350"/>
            <a:ext cx="1905000" cy="533400"/>
            <a:chOff x="0" y="0"/>
            <a:chExt cx="2540000" cy="7112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0077450" y="52387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Gibran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11887200" y="5086350"/>
            <a:ext cx="3429000" cy="533400"/>
            <a:chOff x="0" y="0"/>
            <a:chExt cx="4572000" cy="7112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11982450" y="52387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Leaflet + lógica de negocio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1028700" y="5619750"/>
            <a:ext cx="2667000" cy="533400"/>
            <a:chOff x="0" y="0"/>
            <a:chExt cx="3556000" cy="7112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123950" y="57721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3: Frontend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3695700" y="5619750"/>
            <a:ext cx="4572000" cy="533400"/>
            <a:chOff x="0" y="0"/>
            <a:chExt cx="6096000" cy="7112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3790950" y="57721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Interfaz web responsive, catálogo y disponibilidad.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8267700" y="5619750"/>
            <a:ext cx="1714500" cy="533400"/>
            <a:chOff x="0" y="0"/>
            <a:chExt cx="2286000" cy="7112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8362950" y="57721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6-7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9982200" y="5619750"/>
            <a:ext cx="1905000" cy="533400"/>
            <a:chOff x="0" y="0"/>
            <a:chExt cx="2540000" cy="7112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9" id="139"/>
          <p:cNvSpPr txBox="true"/>
          <p:nvPr/>
        </p:nvSpPr>
        <p:spPr>
          <a:xfrm rot="0">
            <a:off x="10077450" y="57721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Jordan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1887200" y="5619750"/>
            <a:ext cx="3429000" cy="533400"/>
            <a:chOff x="0" y="0"/>
            <a:chExt cx="4572000" cy="7112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11982450" y="57721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Bootstrap 5 + integración API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1028700" y="6153150"/>
            <a:ext cx="2667000" cy="533400"/>
            <a:chOff x="0" y="0"/>
            <a:chExt cx="3556000" cy="7112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123950" y="63055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4: Reservas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3695700" y="6153150"/>
            <a:ext cx="4572000" cy="533400"/>
            <a:chOff x="0" y="0"/>
            <a:chExt cx="6096000" cy="7112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3790950" y="63055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Sistema de reservas, Webpay y notificaciones.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8267700" y="6153150"/>
            <a:ext cx="1714500" cy="533400"/>
            <a:chOff x="0" y="0"/>
            <a:chExt cx="2286000" cy="7112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5" id="155"/>
          <p:cNvSpPr txBox="true"/>
          <p:nvPr/>
        </p:nvSpPr>
        <p:spPr>
          <a:xfrm rot="0">
            <a:off x="8362950" y="63055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8</a:t>
            </a:r>
          </a:p>
        </p:txBody>
      </p:sp>
      <p:grpSp>
        <p:nvGrpSpPr>
          <p:cNvPr name="Group 156" id="156"/>
          <p:cNvGrpSpPr/>
          <p:nvPr/>
        </p:nvGrpSpPr>
        <p:grpSpPr>
          <a:xfrm rot="0">
            <a:off x="9982200" y="6153150"/>
            <a:ext cx="1905000" cy="533400"/>
            <a:chOff x="0" y="0"/>
            <a:chExt cx="2540000" cy="7112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10077450" y="63055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Jordan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1887200" y="6153150"/>
            <a:ext cx="3429000" cy="533400"/>
            <a:chOff x="0" y="0"/>
            <a:chExt cx="4572000" cy="7112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3" id="163"/>
          <p:cNvSpPr txBox="true"/>
          <p:nvPr/>
        </p:nvSpPr>
        <p:spPr>
          <a:xfrm rot="0">
            <a:off x="11982450" y="63055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Pruebas transaccionales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028700" y="6686550"/>
            <a:ext cx="2667000" cy="533400"/>
            <a:chOff x="0" y="0"/>
            <a:chExt cx="3556000" cy="7112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123950" y="68389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5: App Móvil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3695700" y="6686550"/>
            <a:ext cx="4572000" cy="533400"/>
            <a:chOff x="0" y="0"/>
            <a:chExt cx="6096000" cy="7112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1" id="171"/>
          <p:cNvSpPr txBox="true"/>
          <p:nvPr/>
        </p:nvSpPr>
        <p:spPr>
          <a:xfrm rot="0">
            <a:off x="3790950" y="68389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Aplicación móvil adaptativa y asignación operativa.</a:t>
            </a:r>
          </a:p>
        </p:txBody>
      </p:sp>
      <p:grpSp>
        <p:nvGrpSpPr>
          <p:cNvPr name="Group 172" id="172"/>
          <p:cNvGrpSpPr/>
          <p:nvPr/>
        </p:nvGrpSpPr>
        <p:grpSpPr>
          <a:xfrm rot="0">
            <a:off x="8267700" y="6686550"/>
            <a:ext cx="1714500" cy="533400"/>
            <a:chOff x="0" y="0"/>
            <a:chExt cx="2286000" cy="71120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5" id="175"/>
          <p:cNvSpPr txBox="true"/>
          <p:nvPr/>
        </p:nvSpPr>
        <p:spPr>
          <a:xfrm rot="0">
            <a:off x="8362950" y="68389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9-10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9982200" y="6686550"/>
            <a:ext cx="1905000" cy="533400"/>
            <a:chOff x="0" y="0"/>
            <a:chExt cx="2540000" cy="7112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9" id="179"/>
          <p:cNvSpPr txBox="true"/>
          <p:nvPr/>
        </p:nvSpPr>
        <p:spPr>
          <a:xfrm rot="0">
            <a:off x="10077450" y="68389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Jordan</a:t>
            </a:r>
          </a:p>
        </p:txBody>
      </p:sp>
      <p:grpSp>
        <p:nvGrpSpPr>
          <p:cNvPr name="Group 180" id="180"/>
          <p:cNvGrpSpPr/>
          <p:nvPr/>
        </p:nvGrpSpPr>
        <p:grpSpPr>
          <a:xfrm rot="0">
            <a:off x="11887200" y="6686550"/>
            <a:ext cx="3429000" cy="533400"/>
            <a:chOff x="0" y="0"/>
            <a:chExt cx="4572000" cy="7112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11982450" y="68389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Vista responsive + testing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1028700" y="7219950"/>
            <a:ext cx="2667000" cy="533400"/>
            <a:chOff x="0" y="0"/>
            <a:chExt cx="3556000" cy="71120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7" id="187"/>
          <p:cNvSpPr txBox="true"/>
          <p:nvPr/>
        </p:nvSpPr>
        <p:spPr>
          <a:xfrm rot="0">
            <a:off x="1123950" y="73723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Sprint 6: Dashboard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3695700" y="7219950"/>
            <a:ext cx="4572000" cy="533400"/>
            <a:chOff x="0" y="0"/>
            <a:chExt cx="6096000" cy="71120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1" id="191"/>
          <p:cNvSpPr txBox="true"/>
          <p:nvPr/>
        </p:nvSpPr>
        <p:spPr>
          <a:xfrm rot="0">
            <a:off x="3790950" y="73723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Panel administrativo con KPIs operacionales.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8267700" y="7219950"/>
            <a:ext cx="1714500" cy="533400"/>
            <a:chOff x="0" y="0"/>
            <a:chExt cx="2286000" cy="7112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5" id="195"/>
          <p:cNvSpPr txBox="true"/>
          <p:nvPr/>
        </p:nvSpPr>
        <p:spPr>
          <a:xfrm rot="0">
            <a:off x="8362950" y="73723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11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9982200" y="7219950"/>
            <a:ext cx="1905000" cy="533400"/>
            <a:chOff x="0" y="0"/>
            <a:chExt cx="2540000" cy="71120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0077450" y="73723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Jordan</a:t>
            </a:r>
          </a:p>
        </p:txBody>
      </p:sp>
      <p:grpSp>
        <p:nvGrpSpPr>
          <p:cNvPr name="Group 200" id="200"/>
          <p:cNvGrpSpPr/>
          <p:nvPr/>
        </p:nvGrpSpPr>
        <p:grpSpPr>
          <a:xfrm rot="0">
            <a:off x="11887200" y="7219950"/>
            <a:ext cx="3429000" cy="533400"/>
            <a:chOff x="0" y="0"/>
            <a:chExt cx="4572000" cy="7112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3" id="203"/>
          <p:cNvSpPr txBox="true"/>
          <p:nvPr/>
        </p:nvSpPr>
        <p:spPr>
          <a:xfrm rot="0">
            <a:off x="11982450" y="73723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Visualización de datos</a:t>
            </a:r>
          </a:p>
        </p:txBody>
      </p:sp>
      <p:grpSp>
        <p:nvGrpSpPr>
          <p:cNvPr name="Group 204" id="204"/>
          <p:cNvGrpSpPr/>
          <p:nvPr/>
        </p:nvGrpSpPr>
        <p:grpSpPr>
          <a:xfrm rot="0">
            <a:off x="1028700" y="7753350"/>
            <a:ext cx="2667000" cy="533400"/>
            <a:chOff x="0" y="0"/>
            <a:chExt cx="3556000" cy="7112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06" id="20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7" id="207"/>
          <p:cNvSpPr txBox="true"/>
          <p:nvPr/>
        </p:nvSpPr>
        <p:spPr>
          <a:xfrm rot="0">
            <a:off x="1123950" y="79057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Pruebas QA</a:t>
            </a:r>
          </a:p>
        </p:txBody>
      </p:sp>
      <p:grpSp>
        <p:nvGrpSpPr>
          <p:cNvPr name="Group 208" id="208"/>
          <p:cNvGrpSpPr/>
          <p:nvPr/>
        </p:nvGrpSpPr>
        <p:grpSpPr>
          <a:xfrm rot="0">
            <a:off x="3695700" y="7753350"/>
            <a:ext cx="4572000" cy="533400"/>
            <a:chOff x="0" y="0"/>
            <a:chExt cx="6096000" cy="71120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1" id="211"/>
          <p:cNvSpPr txBox="true"/>
          <p:nvPr/>
        </p:nvSpPr>
        <p:spPr>
          <a:xfrm rot="0">
            <a:off x="3790950" y="79057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Pruebas unitarias, integración, API y seguridad.</a:t>
            </a:r>
          </a:p>
        </p:txBody>
      </p:sp>
      <p:grpSp>
        <p:nvGrpSpPr>
          <p:cNvPr name="Group 212" id="212"/>
          <p:cNvGrpSpPr/>
          <p:nvPr/>
        </p:nvGrpSpPr>
        <p:grpSpPr>
          <a:xfrm rot="0">
            <a:off x="8267700" y="7753350"/>
            <a:ext cx="1714500" cy="533400"/>
            <a:chOff x="0" y="0"/>
            <a:chExt cx="2286000" cy="71120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5" id="215"/>
          <p:cNvSpPr txBox="true"/>
          <p:nvPr/>
        </p:nvSpPr>
        <p:spPr>
          <a:xfrm rot="0">
            <a:off x="8362950" y="79057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12-13</a:t>
            </a:r>
          </a:p>
        </p:txBody>
      </p:sp>
      <p:grpSp>
        <p:nvGrpSpPr>
          <p:cNvPr name="Group 216" id="216"/>
          <p:cNvGrpSpPr/>
          <p:nvPr/>
        </p:nvGrpSpPr>
        <p:grpSpPr>
          <a:xfrm rot="0">
            <a:off x="9982200" y="7753350"/>
            <a:ext cx="1905000" cy="533400"/>
            <a:chOff x="0" y="0"/>
            <a:chExt cx="2540000" cy="71120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9" id="219"/>
          <p:cNvSpPr txBox="true"/>
          <p:nvPr/>
        </p:nvSpPr>
        <p:spPr>
          <a:xfrm rot="0">
            <a:off x="10077450" y="79057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Ambos</a:t>
            </a:r>
          </a:p>
        </p:txBody>
      </p:sp>
      <p:grpSp>
        <p:nvGrpSpPr>
          <p:cNvPr name="Group 220" id="220"/>
          <p:cNvGrpSpPr/>
          <p:nvPr/>
        </p:nvGrpSpPr>
        <p:grpSpPr>
          <a:xfrm rot="0">
            <a:off x="11887200" y="7753350"/>
            <a:ext cx="3429000" cy="533400"/>
            <a:chOff x="0" y="0"/>
            <a:chExt cx="4572000" cy="711200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3" id="223"/>
          <p:cNvSpPr txBox="true"/>
          <p:nvPr/>
        </p:nvSpPr>
        <p:spPr>
          <a:xfrm rot="0">
            <a:off x="11982450" y="79057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Plan de certificación</a:t>
            </a:r>
          </a:p>
        </p:txBody>
      </p:sp>
      <p:grpSp>
        <p:nvGrpSpPr>
          <p:cNvPr name="Group 224" id="224"/>
          <p:cNvGrpSpPr/>
          <p:nvPr/>
        </p:nvGrpSpPr>
        <p:grpSpPr>
          <a:xfrm rot="0">
            <a:off x="1028700" y="8286750"/>
            <a:ext cx="2667000" cy="533400"/>
            <a:chOff x="0" y="0"/>
            <a:chExt cx="3556000" cy="71120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355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7" id="227"/>
          <p:cNvSpPr txBox="true"/>
          <p:nvPr/>
        </p:nvSpPr>
        <p:spPr>
          <a:xfrm rot="0">
            <a:off x="1123950" y="8439150"/>
            <a:ext cx="2476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Despliegue y Cierre</a:t>
            </a:r>
          </a:p>
        </p:txBody>
      </p:sp>
      <p:grpSp>
        <p:nvGrpSpPr>
          <p:cNvPr name="Group 228" id="228"/>
          <p:cNvGrpSpPr/>
          <p:nvPr/>
        </p:nvGrpSpPr>
        <p:grpSpPr>
          <a:xfrm rot="0">
            <a:off x="3695700" y="8286750"/>
            <a:ext cx="4572000" cy="533400"/>
            <a:chOff x="0" y="0"/>
            <a:chExt cx="6096000" cy="711200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30" id="230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1" id="231"/>
          <p:cNvSpPr txBox="true"/>
          <p:nvPr/>
        </p:nvSpPr>
        <p:spPr>
          <a:xfrm rot="0">
            <a:off x="3790950" y="8439150"/>
            <a:ext cx="438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Despliegue demostrativo, documentación y entrega.</a:t>
            </a:r>
          </a:p>
        </p:txBody>
      </p:sp>
      <p:grpSp>
        <p:nvGrpSpPr>
          <p:cNvPr name="Group 232" id="232"/>
          <p:cNvGrpSpPr/>
          <p:nvPr/>
        </p:nvGrpSpPr>
        <p:grpSpPr>
          <a:xfrm rot="0">
            <a:off x="8267700" y="8286750"/>
            <a:ext cx="1714500" cy="533400"/>
            <a:chOff x="0" y="0"/>
            <a:chExt cx="2286000" cy="71120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228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228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5" id="235"/>
          <p:cNvSpPr txBox="true"/>
          <p:nvPr/>
        </p:nvSpPr>
        <p:spPr>
          <a:xfrm rot="0">
            <a:off x="8362950" y="8439150"/>
            <a:ext cx="1524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Semana 13-14</a:t>
            </a:r>
          </a:p>
        </p:txBody>
      </p:sp>
      <p:grpSp>
        <p:nvGrpSpPr>
          <p:cNvPr name="Group 236" id="236"/>
          <p:cNvGrpSpPr/>
          <p:nvPr/>
        </p:nvGrpSpPr>
        <p:grpSpPr>
          <a:xfrm rot="0">
            <a:off x="9982200" y="8286750"/>
            <a:ext cx="1905000" cy="533400"/>
            <a:chOff x="0" y="0"/>
            <a:chExt cx="2540000" cy="711200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54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2540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9" id="239"/>
          <p:cNvSpPr txBox="true"/>
          <p:nvPr/>
        </p:nvSpPr>
        <p:spPr>
          <a:xfrm rot="0">
            <a:off x="10077450" y="8439150"/>
            <a:ext cx="1714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Ambos</a:t>
            </a:r>
          </a:p>
        </p:txBody>
      </p:sp>
      <p:grpSp>
        <p:nvGrpSpPr>
          <p:cNvPr name="Group 240" id="240"/>
          <p:cNvGrpSpPr/>
          <p:nvPr/>
        </p:nvGrpSpPr>
        <p:grpSpPr>
          <a:xfrm rot="0">
            <a:off x="11887200" y="8286750"/>
            <a:ext cx="3429000" cy="533400"/>
            <a:chOff x="0" y="0"/>
            <a:chExt cx="4572000" cy="711200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457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42" id="242"/>
            <p:cNvSpPr txBox="true"/>
            <p:nvPr/>
          </p:nvSpPr>
          <p:spPr>
            <a:xfrm>
              <a:off x="0" y="-38100"/>
              <a:ext cx="457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3" id="243"/>
          <p:cNvSpPr txBox="true"/>
          <p:nvPr/>
        </p:nvSpPr>
        <p:spPr>
          <a:xfrm rot="0">
            <a:off x="11982450" y="8439150"/>
            <a:ext cx="3238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A1628"/>
                </a:solidFill>
                <a:latin typeface="Open Sauce"/>
                <a:ea typeface="Open Sauce"/>
                <a:cs typeface="Open Sauce"/>
                <a:sym typeface="Open Sauce"/>
              </a:rPr>
              <a:t>Checklist de entrega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0" y="2809875"/>
            <a:ext cx="11430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8A94A6"/>
                </a:solidFill>
                <a:latin typeface="Open Sauce"/>
                <a:ea typeface="Open Sauce"/>
                <a:cs typeface="Open Sauce"/>
                <a:sym typeface="Open Sauce"/>
              </a:rPr>
              <a:t>Fin de la Presentación — Fase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6500" y="3467100"/>
            <a:ext cx="13335000" cy="129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71"/>
              </a:lnSpc>
            </a:pPr>
            <a:r>
              <a:rPr lang="en-US" sz="75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¿Preguntas o Comentarios?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57750" y="5105400"/>
            <a:ext cx="8572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8A94A6"/>
                </a:solidFill>
                <a:latin typeface="Open Sauce"/>
                <a:ea typeface="Open Sauce"/>
                <a:cs typeface="Open Sauce"/>
                <a:sym typeface="Open Sauce"/>
              </a:rPr>
              <a:t>Agradecemos su atención y quedamos disponibles para resolver cualquier duda.</a:t>
            </a:r>
          </a:p>
        </p:txBody>
      </p:sp>
      <p:sp>
        <p:nvSpPr>
          <p:cNvPr name="AutoShape 5" id="5"/>
          <p:cNvSpPr/>
          <p:nvPr/>
        </p:nvSpPr>
        <p:spPr>
          <a:xfrm>
            <a:off x="7239000" y="6096000"/>
            <a:ext cx="3810000" cy="0"/>
          </a:xfrm>
          <a:prstGeom prst="line">
            <a:avLst/>
          </a:prstGeom>
          <a:ln cap="flat" w="28575">
            <a:solidFill>
              <a:srgbClr val="1A5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621125" y="9115425"/>
            <a:ext cx="476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5A627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DAHTs_dAnz8</dc:identifier>
  <dcterms:modified xsi:type="dcterms:W3CDTF">2011-08-01T06:04:30Z</dcterms:modified>
  <cp:revision>1</cp:revision>
  <dc:title>Presentacion Proyecto</dc:title>
</cp:coreProperties>
</file>