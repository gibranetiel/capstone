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IBM Plex Sans Bold" charset="1" panose="020B0803050203000203"/>
      <p:regular r:id="rId20"/>
    </p:embeddedFont>
    <p:embeddedFont>
      <p:font typeface="Montserrat Bold" charset="1" panose="00000800000000000000"/>
      <p:regular r:id="rId21"/>
    </p:embeddedFont>
    <p:embeddedFont>
      <p:font typeface="IBM Plex Sans" charset="1" panose="020B0503050203000203"/>
      <p:regular r:id="rId22"/>
    </p:embeddedFont>
    <p:embeddedFont>
      <p:font typeface="Montserrat" charset="1" panose="00000500000000000000"/>
      <p:regular r:id="rId23"/>
    </p:embeddedFont>
    <p:embeddedFont>
      <p:font typeface="Roboto Bold" charset="1" panose="02000000000000000000"/>
      <p:regular r:id="rId24"/>
    </p:embeddedFont>
    <p:embeddedFont>
      <p:font typeface="Roboto" charset="1" panose="020000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72500" y="0"/>
            <a:ext cx="9715500" cy="10287000"/>
          </a:xfrm>
          <a:custGeom>
            <a:avLst/>
            <a:gdLst/>
            <a:ahLst/>
            <a:cxnLst/>
            <a:rect r="r" b="b" t="t" l="l"/>
            <a:pathLst>
              <a:path h="10287000" w="9715500">
                <a:moveTo>
                  <a:pt x="0" y="0"/>
                </a:moveTo>
                <a:lnTo>
                  <a:pt x="9715500" y="0"/>
                </a:lnTo>
                <a:lnTo>
                  <a:pt x="9715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6" r="0" b="-36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8572500" y="0"/>
            <a:ext cx="10858500" cy="10287000"/>
            <a:chOff x="0" y="0"/>
            <a:chExt cx="14478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478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4478000">
                  <a:moveTo>
                    <a:pt x="0" y="0"/>
                  </a:moveTo>
                  <a:lnTo>
                    <a:pt x="14478000" y="0"/>
                  </a:lnTo>
                  <a:lnTo>
                    <a:pt x="14478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081B2C">
                    <a:alpha val="100000"/>
                  </a:srgbClr>
                </a:gs>
                <a:gs pos="62000">
                  <a:srgbClr val="1261A0">
                    <a:alpha val="100000"/>
                  </a:srgbClr>
                </a:gs>
                <a:gs pos="100000">
                  <a:srgbClr val="081B2C">
                    <a:alpha val="10000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4478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52500" y="638175"/>
            <a:ext cx="476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F28C28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KRANECHILE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75106" y="2329975"/>
            <a:ext cx="8858250" cy="1194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35"/>
              </a:lnSpc>
            </a:pPr>
            <a:r>
              <a:rPr lang="en-US" sz="87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KraneChile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7605" y="3783639"/>
            <a:ext cx="7061895" cy="909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7"/>
              </a:lnSpc>
            </a:pPr>
            <a:r>
              <a:rPr lang="en-US" sz="2708">
                <a:solidFill>
                  <a:srgbClr val="D9E6EE"/>
                </a:solidFill>
                <a:latin typeface="IBM Plex Sans"/>
                <a:ea typeface="IBM Plex Sans"/>
                <a:cs typeface="IBM Plex Sans"/>
                <a:sym typeface="IBM Plex Sans"/>
              </a:rPr>
              <a:t>Ecosistema Digital para el Arriendo, Logística y Gestión Operativa de Maquinaria Pesada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29104" y="7121050"/>
            <a:ext cx="1143000" cy="76200"/>
            <a:chOff x="0" y="0"/>
            <a:chExt cx="1524000" cy="101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24000" cy="101600"/>
            </a:xfrm>
            <a:custGeom>
              <a:avLst/>
              <a:gdLst/>
              <a:ahLst/>
              <a:cxnLst/>
              <a:rect r="r" b="b" t="t" l="l"/>
              <a:pathLst>
                <a:path h="1016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28C28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524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29104" y="7581900"/>
            <a:ext cx="7620000" cy="853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PLATAFORMA WEB (DJANGO)  +  APP MÓVIL (FLUTTER)</a:t>
            </a:r>
          </a:p>
          <a:p>
            <a:pPr algn="l">
              <a:lnSpc>
                <a:spcPts val="2310"/>
              </a:lnSpc>
            </a:pPr>
          </a:p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Integrantes:Gibran Beiza – Jordan Vergara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428625"/>
            <a:ext cx="4953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F28C28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KRANECHILE  /  02</a:t>
            </a:r>
          </a:p>
        </p:txBody>
      </p:sp>
      <p:sp>
        <p:nvSpPr>
          <p:cNvPr name="AutoShape 3" id="3"/>
          <p:cNvSpPr/>
          <p:nvPr/>
        </p:nvSpPr>
        <p:spPr>
          <a:xfrm>
            <a:off x="952500" y="838200"/>
            <a:ext cx="16383000" cy="0"/>
          </a:xfrm>
          <a:prstGeom prst="line">
            <a:avLst/>
          </a:prstGeom>
          <a:ln cap="flat" w="19050">
            <a:solidFill>
              <a:srgbClr val="24425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5811500" y="9620250"/>
            <a:ext cx="1524000" cy="196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200">
                <a:solidFill>
                  <a:srgbClr val="D9E6EE"/>
                </a:solidFill>
                <a:latin typeface="IBM Plex Sans"/>
                <a:ea typeface="IBM Plex Sans"/>
                <a:cs typeface="IBM Plex Sans"/>
                <a:sym typeface="IBM Plex Sans"/>
              </a:rPr>
              <a:t>02  /  12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2500" y="1362075"/>
            <a:ext cx="8096250" cy="1929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¿Cómo se arrienda hoy una grúa de 25 toneladas?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500" y="3648075"/>
            <a:ext cx="3429000" cy="1150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20"/>
              </a:lnSpc>
            </a:pPr>
            <a:r>
              <a:rPr lang="en-US" sz="8400" b="true">
                <a:solidFill>
                  <a:srgbClr val="F28C2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&gt;90%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2500" y="4724400"/>
            <a:ext cx="6667500" cy="70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D9E6EE"/>
                </a:solidFill>
                <a:latin typeface="IBM Plex Sans"/>
                <a:ea typeface="IBM Plex Sans"/>
                <a:cs typeface="IBM Plex Sans"/>
                <a:sym typeface="IBM Plex Sans"/>
              </a:rPr>
              <a:t>de las empresas solo ofrece contacto por WhatsApp o teléfono.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2500" y="6172200"/>
            <a:ext cx="7524750" cy="297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1  Horas de espera para cotizar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2500" y="6819900"/>
            <a:ext cx="7524750" cy="297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2  Tarifas arbitrarias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2500" y="7467600"/>
            <a:ext cx="7524750" cy="297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3  Sobreventa por planillas manuales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2500" y="8115300"/>
            <a:ext cx="7524750" cy="297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4  Guías de papel desactualizadas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0001250" y="1428750"/>
            <a:ext cx="7334250" cy="7524750"/>
          </a:xfrm>
          <a:custGeom>
            <a:avLst/>
            <a:gdLst/>
            <a:ahLst/>
            <a:cxnLst/>
            <a:rect r="r" b="b" t="t" l="l"/>
            <a:pathLst>
              <a:path h="7524750" w="7334250">
                <a:moveTo>
                  <a:pt x="0" y="0"/>
                </a:moveTo>
                <a:lnTo>
                  <a:pt x="7334250" y="0"/>
                </a:lnTo>
                <a:lnTo>
                  <a:pt x="7334250" y="7524750"/>
                </a:lnTo>
                <a:lnTo>
                  <a:pt x="0" y="7524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7" r="0" b="-47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8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428625"/>
            <a:ext cx="4953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F28C28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KRANECHILE  /  03</a:t>
            </a:r>
          </a:p>
        </p:txBody>
      </p:sp>
      <p:sp>
        <p:nvSpPr>
          <p:cNvPr name="AutoShape 3" id="3"/>
          <p:cNvSpPr/>
          <p:nvPr/>
        </p:nvSpPr>
        <p:spPr>
          <a:xfrm>
            <a:off x="952500" y="838200"/>
            <a:ext cx="16383000" cy="0"/>
          </a:xfrm>
          <a:prstGeom prst="line">
            <a:avLst/>
          </a:prstGeom>
          <a:ln cap="flat" w="19050">
            <a:solidFill>
              <a:srgbClr val="24425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5811500" y="9620250"/>
            <a:ext cx="1524000" cy="196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200">
                <a:solidFill>
                  <a:srgbClr val="D9E6EE"/>
                </a:solidFill>
                <a:latin typeface="IBM Plex Sans"/>
                <a:ea typeface="IBM Plex Sans"/>
                <a:cs typeface="IBM Plex Sans"/>
                <a:sym typeface="IBM Plex Sans"/>
              </a:rPr>
              <a:t>03  /  12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2500" y="1314450"/>
            <a:ext cx="10477500" cy="664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8"/>
              </a:lnSpc>
            </a:pPr>
            <a:r>
              <a:rPr lang="en-US" sz="487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Rompe el estándar del mercado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500" y="2152650"/>
            <a:ext cx="93345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D9E6EE"/>
                </a:solidFill>
                <a:latin typeface="IBM Plex Sans"/>
                <a:ea typeface="IBM Plex Sans"/>
                <a:cs typeface="IBM Plex Sans"/>
                <a:sym typeface="IBM Plex Sans"/>
              </a:rPr>
              <a:t>Cuatro capacidades integradas. Una operación sin fricción.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52500" y="3429000"/>
            <a:ext cx="3762375" cy="4476750"/>
            <a:chOff x="0" y="0"/>
            <a:chExt cx="5016500" cy="5969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16500" cy="5969000"/>
            </a:xfrm>
            <a:custGeom>
              <a:avLst/>
              <a:gdLst/>
              <a:ahLst/>
              <a:cxnLst/>
              <a:rect r="r" b="b" t="t" l="l"/>
              <a:pathLst>
                <a:path h="5969000" w="5016500">
                  <a:moveTo>
                    <a:pt x="0" y="0"/>
                  </a:moveTo>
                  <a:lnTo>
                    <a:pt x="5016500" y="0"/>
                  </a:lnTo>
                  <a:lnTo>
                    <a:pt x="5016500" y="5969000"/>
                  </a:lnTo>
                  <a:lnTo>
                    <a:pt x="0" y="5969000"/>
                  </a:lnTo>
                  <a:close/>
                </a:path>
              </a:pathLst>
            </a:custGeom>
            <a:solidFill>
              <a:srgbClr val="1261A0"/>
            </a:solidFill>
            <a:ln w="19050" cap="sq">
              <a:solidFill>
                <a:srgbClr val="244258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16500" cy="600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143500" y="3429000"/>
            <a:ext cx="3762375" cy="4476750"/>
            <a:chOff x="0" y="0"/>
            <a:chExt cx="5016500" cy="5969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016500" cy="5969000"/>
            </a:xfrm>
            <a:custGeom>
              <a:avLst/>
              <a:gdLst/>
              <a:ahLst/>
              <a:cxnLst/>
              <a:rect r="r" b="b" t="t" l="l"/>
              <a:pathLst>
                <a:path h="5969000" w="5016500">
                  <a:moveTo>
                    <a:pt x="0" y="0"/>
                  </a:moveTo>
                  <a:lnTo>
                    <a:pt x="5016500" y="0"/>
                  </a:lnTo>
                  <a:lnTo>
                    <a:pt x="5016500" y="5969000"/>
                  </a:lnTo>
                  <a:lnTo>
                    <a:pt x="0" y="5969000"/>
                  </a:lnTo>
                  <a:close/>
                </a:path>
              </a:pathLst>
            </a:custGeom>
            <a:solidFill>
              <a:srgbClr val="1261A0"/>
            </a:solidFill>
            <a:ln w="19050" cap="sq">
              <a:solidFill>
                <a:srgbClr val="244258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5016500" cy="600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334500" y="3429000"/>
            <a:ext cx="3762375" cy="4476750"/>
            <a:chOff x="0" y="0"/>
            <a:chExt cx="5016500" cy="5969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016500" cy="5969000"/>
            </a:xfrm>
            <a:custGeom>
              <a:avLst/>
              <a:gdLst/>
              <a:ahLst/>
              <a:cxnLst/>
              <a:rect r="r" b="b" t="t" l="l"/>
              <a:pathLst>
                <a:path h="5969000" w="5016500">
                  <a:moveTo>
                    <a:pt x="0" y="0"/>
                  </a:moveTo>
                  <a:lnTo>
                    <a:pt x="5016500" y="0"/>
                  </a:lnTo>
                  <a:lnTo>
                    <a:pt x="5016500" y="5969000"/>
                  </a:lnTo>
                  <a:lnTo>
                    <a:pt x="0" y="5969000"/>
                  </a:lnTo>
                  <a:close/>
                </a:path>
              </a:pathLst>
            </a:custGeom>
            <a:solidFill>
              <a:srgbClr val="F28C28"/>
            </a:solidFill>
            <a:ln w="19050" cap="sq">
              <a:solidFill>
                <a:srgbClr val="244258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016500" cy="600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525500" y="3429000"/>
            <a:ext cx="3762375" cy="4476750"/>
            <a:chOff x="0" y="0"/>
            <a:chExt cx="5016500" cy="5969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016500" cy="5969000"/>
            </a:xfrm>
            <a:custGeom>
              <a:avLst/>
              <a:gdLst/>
              <a:ahLst/>
              <a:cxnLst/>
              <a:rect r="r" b="b" t="t" l="l"/>
              <a:pathLst>
                <a:path h="5969000" w="5016500">
                  <a:moveTo>
                    <a:pt x="0" y="0"/>
                  </a:moveTo>
                  <a:lnTo>
                    <a:pt x="5016500" y="0"/>
                  </a:lnTo>
                  <a:lnTo>
                    <a:pt x="5016500" y="5969000"/>
                  </a:lnTo>
                  <a:lnTo>
                    <a:pt x="0" y="5969000"/>
                  </a:lnTo>
                  <a:close/>
                </a:path>
              </a:pathLst>
            </a:custGeom>
            <a:solidFill>
              <a:srgbClr val="1261A0"/>
            </a:solidFill>
            <a:ln w="19050" cap="sq">
              <a:solidFill>
                <a:srgbClr val="244258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5016500" cy="600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85875" y="3952875"/>
            <a:ext cx="3095625" cy="2123599"/>
            <a:chOff x="0" y="0"/>
            <a:chExt cx="4127500" cy="2831465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76200"/>
              <a:ext cx="4127500" cy="1013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70"/>
                </a:lnSpc>
              </a:pPr>
              <a:r>
                <a:rPr lang="en-US" sz="5400" b="true">
                  <a:solidFill>
                    <a:srgbClr val="F28C2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50%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1930400"/>
              <a:ext cx="4127500" cy="901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Abono Webpay</a:t>
              </a:r>
            </a:p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confirmación inmediata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476875" y="3952875"/>
            <a:ext cx="3095625" cy="2123599"/>
            <a:chOff x="0" y="0"/>
            <a:chExt cx="4127500" cy="2831465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76200"/>
              <a:ext cx="4127500" cy="1013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70"/>
                </a:lnSpc>
              </a:pPr>
              <a:r>
                <a:rPr lang="en-US" sz="5400" b="true">
                  <a:solidFill>
                    <a:srgbClr val="F28C2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15 min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1930400"/>
              <a:ext cx="4127500" cy="901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Liberación automática</a:t>
              </a:r>
            </a:p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de órdenes impagas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667875" y="3952875"/>
            <a:ext cx="3095625" cy="2123599"/>
            <a:chOff x="0" y="0"/>
            <a:chExt cx="4127500" cy="2831465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0" y="76200"/>
              <a:ext cx="4127500" cy="1013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70"/>
                </a:lnSpc>
              </a:pPr>
              <a:r>
                <a:rPr lang="en-US" sz="54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GPS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1930400"/>
              <a:ext cx="4127500" cy="901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Tracking en vivo</a:t>
              </a:r>
            </a:p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con link al cliente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858875" y="3952875"/>
            <a:ext cx="3095625" cy="2123599"/>
            <a:chOff x="0" y="0"/>
            <a:chExt cx="4127500" cy="2831465"/>
          </a:xfrm>
        </p:grpSpPr>
        <p:sp>
          <p:nvSpPr>
            <p:cNvPr name="TextBox 29" id="29"/>
            <p:cNvSpPr txBox="true"/>
            <p:nvPr/>
          </p:nvSpPr>
          <p:spPr>
            <a:xfrm rot="0">
              <a:off x="0" y="76200"/>
              <a:ext cx="4127500" cy="1013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70"/>
                </a:lnSpc>
              </a:pPr>
              <a:r>
                <a:rPr lang="en-US" sz="5400" b="true">
                  <a:solidFill>
                    <a:srgbClr val="F28C2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30 días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0" y="1930400"/>
              <a:ext cx="4127500" cy="901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Crédito B2B</a:t>
              </a:r>
            </a:p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para empresas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428625"/>
            <a:ext cx="4953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F28C28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KRANECHILE  /  04</a:t>
            </a:r>
          </a:p>
        </p:txBody>
      </p:sp>
      <p:sp>
        <p:nvSpPr>
          <p:cNvPr name="AutoShape 3" id="3"/>
          <p:cNvSpPr/>
          <p:nvPr/>
        </p:nvSpPr>
        <p:spPr>
          <a:xfrm>
            <a:off x="952500" y="838200"/>
            <a:ext cx="16383000" cy="0"/>
          </a:xfrm>
          <a:prstGeom prst="line">
            <a:avLst/>
          </a:prstGeom>
          <a:ln cap="flat" w="19050">
            <a:solidFill>
              <a:srgbClr val="24425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5811500" y="9620250"/>
            <a:ext cx="1524000" cy="196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200">
                <a:solidFill>
                  <a:srgbClr val="D9E6EE"/>
                </a:solidFill>
                <a:latin typeface="IBM Plex Sans"/>
                <a:ea typeface="IBM Plex Sans"/>
                <a:cs typeface="IBM Plex Sans"/>
                <a:sym typeface="IBM Plex Sans"/>
              </a:rPr>
              <a:t>04  /  12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2500" y="1295400"/>
            <a:ext cx="10001250" cy="575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0"/>
              </a:lnSpc>
            </a:pPr>
            <a:r>
              <a:rPr lang="en-US" sz="42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Catálogo inteligente. Reglas claras.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500" y="2162175"/>
            <a:ext cx="11906250" cy="324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D9E6EE"/>
                </a:solidFill>
                <a:latin typeface="IBM Plex Sans"/>
                <a:ea typeface="IBM Plex Sans"/>
                <a:cs typeface="IBM Plex Sans"/>
                <a:sym typeface="IBM Plex Sans"/>
              </a:rPr>
              <a:t>Horquillas 3–25 ton · Camiones pluma · Grúas telescópicas · Accesorios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52500" y="3143250"/>
            <a:ext cx="8096250" cy="5810250"/>
          </a:xfrm>
          <a:custGeom>
            <a:avLst/>
            <a:gdLst/>
            <a:ahLst/>
            <a:cxnLst/>
            <a:rect r="r" b="b" t="t" l="l"/>
            <a:pathLst>
              <a:path h="5810250" w="8096250">
                <a:moveTo>
                  <a:pt x="0" y="0"/>
                </a:moveTo>
                <a:lnTo>
                  <a:pt x="8096250" y="0"/>
                </a:lnTo>
                <a:lnTo>
                  <a:pt x="8096250" y="5810250"/>
                </a:lnTo>
                <a:lnTo>
                  <a:pt x="0" y="5810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" t="0" r="-1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9525000" y="3143250"/>
            <a:ext cx="6858000" cy="1143000"/>
            <a:chOff x="0" y="0"/>
            <a:chExt cx="9144000" cy="15240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9144000" cy="1524000"/>
              <a:chOff x="0" y="0"/>
              <a:chExt cx="9144000" cy="1524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9144000" cy="1524000"/>
              </a:xfrm>
              <a:custGeom>
                <a:avLst/>
                <a:gdLst/>
                <a:ahLst/>
                <a:cxnLst/>
                <a:rect r="r" b="b" t="t" l="l"/>
                <a:pathLst>
                  <a:path h="1524000" w="9144000">
                    <a:moveTo>
                      <a:pt x="0" y="0"/>
                    </a:moveTo>
                    <a:lnTo>
                      <a:pt x="9144000" y="0"/>
                    </a:lnTo>
                    <a:lnTo>
                      <a:pt x="9144000" y="1524000"/>
                    </a:lnTo>
                    <a:lnTo>
                      <a:pt x="0" y="1524000"/>
                    </a:lnTo>
                    <a:close/>
                  </a:path>
                </a:pathLst>
              </a:custGeom>
              <a:solidFill>
                <a:srgbClr val="1261A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9144000" cy="156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381000" y="184150"/>
              <a:ext cx="3175000" cy="727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95"/>
                </a:lnSpc>
              </a:pPr>
              <a:r>
                <a:rPr lang="en-US" sz="3900" b="true">
                  <a:solidFill>
                    <a:srgbClr val="F28C2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6 h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381000" y="860425"/>
              <a:ext cx="8255000" cy="389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mínimo obligatorio por jornada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525000" y="4524375"/>
            <a:ext cx="6858000" cy="1143000"/>
            <a:chOff x="0" y="0"/>
            <a:chExt cx="9144000" cy="15240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9144000" cy="1524000"/>
              <a:chOff x="0" y="0"/>
              <a:chExt cx="9144000" cy="1524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9144000" cy="1524000"/>
              </a:xfrm>
              <a:custGeom>
                <a:avLst/>
                <a:gdLst/>
                <a:ahLst/>
                <a:cxnLst/>
                <a:rect r="r" b="b" t="t" l="l"/>
                <a:pathLst>
                  <a:path h="1524000" w="9144000">
                    <a:moveTo>
                      <a:pt x="0" y="0"/>
                    </a:moveTo>
                    <a:lnTo>
                      <a:pt x="9144000" y="0"/>
                    </a:lnTo>
                    <a:lnTo>
                      <a:pt x="9144000" y="1524000"/>
                    </a:lnTo>
                    <a:lnTo>
                      <a:pt x="0" y="1524000"/>
                    </a:lnTo>
                    <a:close/>
                  </a:path>
                </a:pathLst>
              </a:custGeom>
              <a:solidFill>
                <a:srgbClr val="1261A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9144000" cy="156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381000" y="184150"/>
              <a:ext cx="3175000" cy="727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95"/>
                </a:lnSpc>
              </a:pPr>
              <a:r>
                <a:rPr lang="en-US" sz="3900" b="true">
                  <a:solidFill>
                    <a:srgbClr val="F28C2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+50%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381000" y="860425"/>
              <a:ext cx="8255000" cy="389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recargo nocturno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525000" y="5905500"/>
            <a:ext cx="6858000" cy="1143000"/>
            <a:chOff x="0" y="0"/>
            <a:chExt cx="9144000" cy="15240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9144000" cy="1524000"/>
              <a:chOff x="0" y="0"/>
              <a:chExt cx="9144000" cy="15240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9144000" cy="1524000"/>
              </a:xfrm>
              <a:custGeom>
                <a:avLst/>
                <a:gdLst/>
                <a:ahLst/>
                <a:cxnLst/>
                <a:rect r="r" b="b" t="t" l="l"/>
                <a:pathLst>
                  <a:path h="1524000" w="9144000">
                    <a:moveTo>
                      <a:pt x="0" y="0"/>
                    </a:moveTo>
                    <a:lnTo>
                      <a:pt x="9144000" y="0"/>
                    </a:lnTo>
                    <a:lnTo>
                      <a:pt x="9144000" y="1524000"/>
                    </a:lnTo>
                    <a:lnTo>
                      <a:pt x="0" y="1524000"/>
                    </a:lnTo>
                    <a:close/>
                  </a:path>
                </a:pathLst>
              </a:custGeom>
              <a:solidFill>
                <a:srgbClr val="1261A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9144000" cy="156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381000" y="184150"/>
              <a:ext cx="3175000" cy="727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95"/>
                </a:lnSpc>
              </a:pPr>
              <a:r>
                <a:rPr lang="en-US" sz="39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+40/50%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381000" y="860425"/>
              <a:ext cx="8255000" cy="389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fin de semana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525000" y="7286625"/>
            <a:ext cx="6858000" cy="1143000"/>
            <a:chOff x="0" y="0"/>
            <a:chExt cx="9144000" cy="1524000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9144000" cy="1524000"/>
              <a:chOff x="0" y="0"/>
              <a:chExt cx="9144000" cy="15240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9144000" cy="1524000"/>
              </a:xfrm>
              <a:custGeom>
                <a:avLst/>
                <a:gdLst/>
                <a:ahLst/>
                <a:cxnLst/>
                <a:rect r="r" b="b" t="t" l="l"/>
                <a:pathLst>
                  <a:path h="1524000" w="9144000">
                    <a:moveTo>
                      <a:pt x="0" y="0"/>
                    </a:moveTo>
                    <a:lnTo>
                      <a:pt x="9144000" y="0"/>
                    </a:lnTo>
                    <a:lnTo>
                      <a:pt x="9144000" y="1524000"/>
                    </a:lnTo>
                    <a:lnTo>
                      <a:pt x="0" y="1524000"/>
                    </a:lnTo>
                    <a:close/>
                  </a:path>
                </a:pathLst>
              </a:custGeom>
              <a:solidFill>
                <a:srgbClr val="1261A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9144000" cy="156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381000" y="184150"/>
              <a:ext cx="3175000" cy="727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95"/>
                </a:lnSpc>
              </a:pPr>
              <a:r>
                <a:rPr lang="en-US" sz="3900" b="true">
                  <a:solidFill>
                    <a:srgbClr val="F28C2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00–24 h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381000" y="860425"/>
              <a:ext cx="8255000" cy="389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bloqueo preventivo traslado + inspección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8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428625"/>
            <a:ext cx="4953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F28C28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KRANECHILE  /  05</a:t>
            </a:r>
          </a:p>
        </p:txBody>
      </p:sp>
      <p:sp>
        <p:nvSpPr>
          <p:cNvPr name="AutoShape 3" id="3"/>
          <p:cNvSpPr/>
          <p:nvPr/>
        </p:nvSpPr>
        <p:spPr>
          <a:xfrm>
            <a:off x="952500" y="838200"/>
            <a:ext cx="16383000" cy="0"/>
          </a:xfrm>
          <a:prstGeom prst="line">
            <a:avLst/>
          </a:prstGeom>
          <a:ln cap="flat" w="19050">
            <a:solidFill>
              <a:srgbClr val="24425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5811500" y="9620250"/>
            <a:ext cx="1524000" cy="196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200">
                <a:solidFill>
                  <a:srgbClr val="D9E6EE"/>
                </a:solidFill>
                <a:latin typeface="IBM Plex Sans"/>
                <a:ea typeface="IBM Plex Sans"/>
                <a:cs typeface="IBM Plex Sans"/>
                <a:sym typeface="IBM Plex Sans"/>
              </a:rPr>
              <a:t>05  /  12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2500" y="1390650"/>
            <a:ext cx="12382500" cy="52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6"/>
              </a:lnSpc>
            </a:pPr>
            <a:r>
              <a:rPr lang="en-US" sz="382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Adaptado al flujo financiero de las constructoras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500" y="2305050"/>
            <a:ext cx="8572500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D9E6EE"/>
                </a:solidFill>
                <a:latin typeface="IBM Plex Sans"/>
                <a:ea typeface="IBM Plex Sans"/>
                <a:cs typeface="IBM Plex Sans"/>
                <a:sym typeface="IBM Plex Sans"/>
              </a:rPr>
              <a:t>Crédito a 30 días sin frenar la operación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38250" y="4762500"/>
            <a:ext cx="3143250" cy="1619250"/>
            <a:chOff x="0" y="0"/>
            <a:chExt cx="4191000" cy="2159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191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191000">
                  <a:moveTo>
                    <a:pt x="61576" y="0"/>
                  </a:moveTo>
                  <a:lnTo>
                    <a:pt x="4129424" y="0"/>
                  </a:lnTo>
                  <a:cubicBezTo>
                    <a:pt x="4163432" y="0"/>
                    <a:pt x="4191000" y="27568"/>
                    <a:pt x="4191000" y="61576"/>
                  </a:cubicBezTo>
                  <a:lnTo>
                    <a:pt x="4191000" y="2097424"/>
                  </a:lnTo>
                  <a:cubicBezTo>
                    <a:pt x="4191000" y="2131432"/>
                    <a:pt x="4163432" y="2159000"/>
                    <a:pt x="4129424" y="2159000"/>
                  </a:cubicBezTo>
                  <a:lnTo>
                    <a:pt x="61576" y="2159000"/>
                  </a:lnTo>
                  <a:cubicBezTo>
                    <a:pt x="27568" y="2159000"/>
                    <a:pt x="0" y="2131432"/>
                    <a:pt x="0" y="2097424"/>
                  </a:cubicBezTo>
                  <a:lnTo>
                    <a:pt x="0" y="61576"/>
                  </a:lnTo>
                  <a:cubicBezTo>
                    <a:pt x="0" y="27568"/>
                    <a:pt x="27568" y="0"/>
                    <a:pt x="61576" y="0"/>
                  </a:cubicBezTo>
                  <a:close/>
                </a:path>
              </a:pathLst>
            </a:custGeom>
            <a:solidFill>
              <a:srgbClr val="F28C28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4191000" cy="214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Registro corporativo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RUT + razón social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4476750" y="5572125"/>
            <a:ext cx="857250" cy="0"/>
          </a:xfrm>
          <a:prstGeom prst="line">
            <a:avLst/>
          </a:prstGeom>
          <a:ln cap="rnd" w="47625">
            <a:solidFill>
              <a:srgbClr val="F28C2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5429250" y="4762500"/>
            <a:ext cx="3143250" cy="1619250"/>
            <a:chOff x="0" y="0"/>
            <a:chExt cx="4191000" cy="2159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191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191000">
                  <a:moveTo>
                    <a:pt x="61576" y="0"/>
                  </a:moveTo>
                  <a:lnTo>
                    <a:pt x="4129424" y="0"/>
                  </a:lnTo>
                  <a:cubicBezTo>
                    <a:pt x="4163432" y="0"/>
                    <a:pt x="4191000" y="27568"/>
                    <a:pt x="4191000" y="61576"/>
                  </a:cubicBezTo>
                  <a:lnTo>
                    <a:pt x="4191000" y="2097424"/>
                  </a:lnTo>
                  <a:cubicBezTo>
                    <a:pt x="4191000" y="2131432"/>
                    <a:pt x="4163432" y="2159000"/>
                    <a:pt x="4129424" y="2159000"/>
                  </a:cubicBezTo>
                  <a:lnTo>
                    <a:pt x="61576" y="2159000"/>
                  </a:lnTo>
                  <a:cubicBezTo>
                    <a:pt x="27568" y="2159000"/>
                    <a:pt x="0" y="2131432"/>
                    <a:pt x="0" y="2097424"/>
                  </a:cubicBezTo>
                  <a:lnTo>
                    <a:pt x="0" y="61576"/>
                  </a:lnTo>
                  <a:cubicBezTo>
                    <a:pt x="0" y="27568"/>
                    <a:pt x="27568" y="0"/>
                    <a:pt x="61576" y="0"/>
                  </a:cubicBezTo>
                  <a:close/>
                </a:path>
              </a:pathLst>
            </a:custGeom>
            <a:solidFill>
              <a:srgbClr val="F28C28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4191000" cy="214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Aprobación de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línea de crédito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8667750" y="5572125"/>
            <a:ext cx="857250" cy="0"/>
          </a:xfrm>
          <a:prstGeom prst="line">
            <a:avLst/>
          </a:prstGeom>
          <a:ln cap="rnd" w="47625">
            <a:solidFill>
              <a:srgbClr val="F28C2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9620250" y="4762500"/>
            <a:ext cx="3143250" cy="1619250"/>
            <a:chOff x="0" y="0"/>
            <a:chExt cx="4191000" cy="2159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191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191000">
                  <a:moveTo>
                    <a:pt x="61576" y="0"/>
                  </a:moveTo>
                  <a:lnTo>
                    <a:pt x="4129424" y="0"/>
                  </a:lnTo>
                  <a:cubicBezTo>
                    <a:pt x="4163432" y="0"/>
                    <a:pt x="4191000" y="27568"/>
                    <a:pt x="4191000" y="61576"/>
                  </a:cubicBezTo>
                  <a:lnTo>
                    <a:pt x="4191000" y="2097424"/>
                  </a:lnTo>
                  <a:cubicBezTo>
                    <a:pt x="4191000" y="2131432"/>
                    <a:pt x="4163432" y="2159000"/>
                    <a:pt x="4129424" y="2159000"/>
                  </a:cubicBezTo>
                  <a:lnTo>
                    <a:pt x="61576" y="2159000"/>
                  </a:lnTo>
                  <a:cubicBezTo>
                    <a:pt x="27568" y="2159000"/>
                    <a:pt x="0" y="2131432"/>
                    <a:pt x="0" y="2097424"/>
                  </a:cubicBezTo>
                  <a:lnTo>
                    <a:pt x="0" y="61576"/>
                  </a:lnTo>
                  <a:cubicBezTo>
                    <a:pt x="0" y="27568"/>
                    <a:pt x="27568" y="0"/>
                    <a:pt x="61576" y="0"/>
                  </a:cubicBezTo>
                  <a:close/>
                </a:path>
              </a:pathLst>
            </a:custGeom>
            <a:solidFill>
              <a:srgbClr val="F28C28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9525"/>
              <a:ext cx="4191000" cy="214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Arriendo sin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pago inmediato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12858750" y="5572125"/>
            <a:ext cx="857250" cy="0"/>
          </a:xfrm>
          <a:prstGeom prst="line">
            <a:avLst/>
          </a:prstGeom>
          <a:ln cap="rnd" w="47625">
            <a:solidFill>
              <a:srgbClr val="F28C2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13811250" y="4762500"/>
            <a:ext cx="3143250" cy="1619250"/>
            <a:chOff x="0" y="0"/>
            <a:chExt cx="4191000" cy="2159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191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191000">
                  <a:moveTo>
                    <a:pt x="61576" y="0"/>
                  </a:moveTo>
                  <a:lnTo>
                    <a:pt x="4129424" y="0"/>
                  </a:lnTo>
                  <a:cubicBezTo>
                    <a:pt x="4163432" y="0"/>
                    <a:pt x="4191000" y="27568"/>
                    <a:pt x="4191000" y="61576"/>
                  </a:cubicBezTo>
                  <a:lnTo>
                    <a:pt x="4191000" y="2097424"/>
                  </a:lnTo>
                  <a:cubicBezTo>
                    <a:pt x="4191000" y="2131432"/>
                    <a:pt x="4163432" y="2159000"/>
                    <a:pt x="4129424" y="2159000"/>
                  </a:cubicBezTo>
                  <a:lnTo>
                    <a:pt x="61576" y="2159000"/>
                  </a:lnTo>
                  <a:cubicBezTo>
                    <a:pt x="27568" y="2159000"/>
                    <a:pt x="0" y="2131432"/>
                    <a:pt x="0" y="2097424"/>
                  </a:cubicBezTo>
                  <a:lnTo>
                    <a:pt x="0" y="61576"/>
                  </a:lnTo>
                  <a:cubicBezTo>
                    <a:pt x="0" y="27568"/>
                    <a:pt x="27568" y="0"/>
                    <a:pt x="61576" y="0"/>
                  </a:cubicBezTo>
                  <a:close/>
                </a:path>
              </a:pathLst>
            </a:custGeom>
            <a:solidFill>
              <a:srgbClr val="F28C28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9525"/>
              <a:ext cx="4191000" cy="214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Cuentas por Cobrar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y seguimiento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381250" y="7562850"/>
            <a:ext cx="13525500" cy="441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7"/>
              </a:lnSpc>
            </a:pPr>
            <a:r>
              <a:rPr lang="en-US" sz="31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Más liquidez para el cliente. Más control para KraneChile.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428625"/>
            <a:ext cx="4953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F28C28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KRANECHILE  /  06</a:t>
            </a:r>
          </a:p>
        </p:txBody>
      </p:sp>
      <p:sp>
        <p:nvSpPr>
          <p:cNvPr name="AutoShape 3" id="3"/>
          <p:cNvSpPr/>
          <p:nvPr/>
        </p:nvSpPr>
        <p:spPr>
          <a:xfrm>
            <a:off x="952500" y="838200"/>
            <a:ext cx="16383000" cy="0"/>
          </a:xfrm>
          <a:prstGeom prst="line">
            <a:avLst/>
          </a:prstGeom>
          <a:ln cap="flat" w="19050">
            <a:solidFill>
              <a:srgbClr val="24425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5811500" y="9620250"/>
            <a:ext cx="1524000" cy="196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200">
                <a:solidFill>
                  <a:srgbClr val="D9E6EE"/>
                </a:solidFill>
                <a:latin typeface="IBM Plex Sans"/>
                <a:ea typeface="IBM Plex Sans"/>
                <a:cs typeface="IBM Plex Sans"/>
                <a:sym typeface="IBM Plex Sans"/>
              </a:rPr>
              <a:t>06  /  12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2500" y="1438275"/>
            <a:ext cx="8096250" cy="575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0"/>
              </a:lnSpc>
            </a:pPr>
            <a:r>
              <a:rPr lang="en-US" sz="42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 operación vive en terreno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500" y="2638425"/>
            <a:ext cx="7620000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F28C28"/>
                </a:solidFill>
                <a:latin typeface="IBM Plex Sans"/>
                <a:ea typeface="IBM Plex Sans"/>
                <a:cs typeface="IBM Plex Sans"/>
                <a:sym typeface="IBM Plex Sans"/>
              </a:rPr>
              <a:t>App móvil para operadores · Flutter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2500" y="4229100"/>
            <a:ext cx="7239000" cy="32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4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  Asignación automática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71625" y="4638675"/>
            <a:ext cx="657225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D9E6EE"/>
                </a:solidFill>
                <a:latin typeface="IBM Plex Sans"/>
                <a:ea typeface="IBM Plex Sans"/>
                <a:cs typeface="IBM Plex Sans"/>
                <a:sym typeface="IBM Plex Sans"/>
              </a:rPr>
              <a:t>Operador disponible más cercano.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2500" y="5848350"/>
            <a:ext cx="7239000" cy="32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4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  Control documental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71625" y="6257925"/>
            <a:ext cx="657225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D9E6EE"/>
                </a:solidFill>
                <a:latin typeface="IBM Plex Sans"/>
                <a:ea typeface="IBM Plex Sans"/>
                <a:cs typeface="IBM Plex Sans"/>
                <a:sym typeface="IBM Plex Sans"/>
              </a:rPr>
              <a:t>Licencia, revisión técnica, SOAP y permiso.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2500" y="7467600"/>
            <a:ext cx="7239000" cy="32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4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  Hoja de ruta digital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71625" y="7877175"/>
            <a:ext cx="657225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D9E6EE"/>
                </a:solidFill>
                <a:latin typeface="IBM Plex Sans"/>
                <a:ea typeface="IBM Plex Sans"/>
                <a:cs typeface="IBM Plex Sans"/>
                <a:sym typeface="IBM Plex Sans"/>
              </a:rPr>
              <a:t>En traslado → En faena → Completada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0382250" y="1333500"/>
            <a:ext cx="5905500" cy="7810500"/>
          </a:xfrm>
          <a:custGeom>
            <a:avLst/>
            <a:gdLst/>
            <a:ahLst/>
            <a:cxnLst/>
            <a:rect r="r" b="b" t="t" l="l"/>
            <a:pathLst>
              <a:path h="7810500" w="5905500">
                <a:moveTo>
                  <a:pt x="0" y="0"/>
                </a:moveTo>
                <a:lnTo>
                  <a:pt x="5905500" y="0"/>
                </a:lnTo>
                <a:lnTo>
                  <a:pt x="5905500" y="7810500"/>
                </a:lnTo>
                <a:lnTo>
                  <a:pt x="0" y="7810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2" r="0" b="-72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428625"/>
            <a:ext cx="4953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F28C28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KRANECHILE  /  07</a:t>
            </a:r>
          </a:p>
        </p:txBody>
      </p:sp>
      <p:sp>
        <p:nvSpPr>
          <p:cNvPr name="AutoShape 3" id="3"/>
          <p:cNvSpPr/>
          <p:nvPr/>
        </p:nvSpPr>
        <p:spPr>
          <a:xfrm>
            <a:off x="952500" y="838200"/>
            <a:ext cx="16383000" cy="0"/>
          </a:xfrm>
          <a:prstGeom prst="line">
            <a:avLst/>
          </a:prstGeom>
          <a:ln cap="flat" w="19050">
            <a:solidFill>
              <a:srgbClr val="24425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5811500" y="9620250"/>
            <a:ext cx="1524000" cy="196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200">
                <a:solidFill>
                  <a:srgbClr val="D9E6EE"/>
                </a:solidFill>
                <a:latin typeface="IBM Plex Sans"/>
                <a:ea typeface="IBM Plex Sans"/>
                <a:cs typeface="IBM Plex Sans"/>
                <a:sym typeface="IBM Plex Sans"/>
              </a:rPr>
              <a:t>07  /  12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7810500" y="1143000"/>
            <a:ext cx="10477500" cy="8001000"/>
          </a:xfrm>
          <a:custGeom>
            <a:avLst/>
            <a:gdLst/>
            <a:ahLst/>
            <a:cxnLst/>
            <a:rect r="r" b="b" t="t" l="l"/>
            <a:pathLst>
              <a:path h="8001000" w="10477500">
                <a:moveTo>
                  <a:pt x="0" y="0"/>
                </a:moveTo>
                <a:lnTo>
                  <a:pt x="10477500" y="0"/>
                </a:lnTo>
                <a:lnTo>
                  <a:pt x="10477500" y="8001000"/>
                </a:lnTo>
                <a:lnTo>
                  <a:pt x="0" y="8001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4" t="0" r="-74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7810500" y="1143000"/>
            <a:ext cx="3159863" cy="8001000"/>
            <a:chOff x="0" y="0"/>
            <a:chExt cx="4213151" cy="10668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3151" cy="10668000"/>
            </a:xfrm>
            <a:custGeom>
              <a:avLst/>
              <a:gdLst/>
              <a:ahLst/>
              <a:cxnLst/>
              <a:rect r="r" b="b" t="t" l="l"/>
              <a:pathLst>
                <a:path h="10668000" w="4213151">
                  <a:moveTo>
                    <a:pt x="0" y="0"/>
                  </a:moveTo>
                  <a:lnTo>
                    <a:pt x="4213151" y="0"/>
                  </a:lnTo>
                  <a:lnTo>
                    <a:pt x="4213151" y="10668000"/>
                  </a:lnTo>
                  <a:lnTo>
                    <a:pt x="0" y="10668000"/>
                  </a:lnTo>
                  <a:close/>
                </a:path>
              </a:pathLst>
            </a:custGeom>
            <a:gradFill rotWithShape="true">
              <a:gsLst>
                <a:gs pos="0">
                  <a:srgbClr val="081B2C">
                    <a:alpha val="100000"/>
                  </a:srgbClr>
                </a:gs>
                <a:gs pos="62000">
                  <a:srgbClr val="1261A0">
                    <a:alpha val="100000"/>
                  </a:srgbClr>
                </a:gs>
                <a:gs pos="100000">
                  <a:srgbClr val="081B2C">
                    <a:alpha val="10000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213151" cy="1070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52500" y="1609725"/>
            <a:ext cx="6667500" cy="43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8"/>
              </a:lnSpc>
            </a:pPr>
            <a:r>
              <a:rPr lang="en-US" sz="307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Trazabilidad total para el cliente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2500" y="3495675"/>
            <a:ext cx="5715000" cy="747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Del despacho a la faena, sin llamadas ni incertidumbre.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2500" y="5781675"/>
            <a:ext cx="476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F28C28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LINK AUTOMÁTICO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2500" y="6286500"/>
            <a:ext cx="5334000" cy="952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1"/>
              </a:lnSpc>
            </a:pPr>
            <a:r>
              <a:rPr lang="en-US" sz="352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Ubicación en vivo de la grúa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52500" y="838200"/>
            <a:ext cx="16383000" cy="0"/>
          </a:xfrm>
          <a:prstGeom prst="line">
            <a:avLst/>
          </a:prstGeom>
          <a:ln cap="flat" w="19050">
            <a:solidFill>
              <a:srgbClr val="24425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405211" y="2187893"/>
            <a:ext cx="14654705" cy="7346666"/>
          </a:xfrm>
          <a:custGeom>
            <a:avLst/>
            <a:gdLst/>
            <a:ahLst/>
            <a:cxnLst/>
            <a:rect r="r" b="b" t="t" l="l"/>
            <a:pathLst>
              <a:path h="7346666" w="14654705">
                <a:moveTo>
                  <a:pt x="0" y="0"/>
                </a:moveTo>
                <a:lnTo>
                  <a:pt x="14654705" y="0"/>
                </a:lnTo>
                <a:lnTo>
                  <a:pt x="14654705" y="7346665"/>
                </a:lnTo>
                <a:lnTo>
                  <a:pt x="0" y="73466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99" r="-1055" b="-85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52500" y="428625"/>
            <a:ext cx="4953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F28C28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KRANECHILE  /  08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811500" y="9620250"/>
            <a:ext cx="1524000" cy="196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200">
                <a:solidFill>
                  <a:srgbClr val="D9E6EE"/>
                </a:solidFill>
                <a:latin typeface="IBM Plex Sans"/>
                <a:ea typeface="IBM Plex Sans"/>
                <a:cs typeface="IBM Plex Sans"/>
                <a:sym typeface="IBM Plex Sans"/>
              </a:rPr>
              <a:t>08  /  12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500" y="1257300"/>
            <a:ext cx="11430000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Decisiones estratégicas, en tiempo real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8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428625"/>
            <a:ext cx="4953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F28C28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KRANECHILE  /  09</a:t>
            </a:r>
          </a:p>
        </p:txBody>
      </p:sp>
      <p:sp>
        <p:nvSpPr>
          <p:cNvPr name="AutoShape 3" id="3"/>
          <p:cNvSpPr/>
          <p:nvPr/>
        </p:nvSpPr>
        <p:spPr>
          <a:xfrm>
            <a:off x="952500" y="838200"/>
            <a:ext cx="16383000" cy="0"/>
          </a:xfrm>
          <a:prstGeom prst="line">
            <a:avLst/>
          </a:prstGeom>
          <a:ln cap="flat" w="19050">
            <a:solidFill>
              <a:srgbClr val="24425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5811500" y="9620250"/>
            <a:ext cx="1524000" cy="196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200">
                <a:solidFill>
                  <a:srgbClr val="D9E6EE"/>
                </a:solidFill>
                <a:latin typeface="IBM Plex Sans"/>
                <a:ea typeface="IBM Plex Sans"/>
                <a:cs typeface="IBM Plex Sans"/>
                <a:sym typeface="IBM Plex Sans"/>
              </a:rPr>
              <a:t>09  /  12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2500" y="1304925"/>
            <a:ext cx="11430000" cy="576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8"/>
              </a:lnSpc>
            </a:pPr>
            <a:r>
              <a:rPr lang="en-US" sz="427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Seguridad, control y registro de eventos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500" y="2200275"/>
            <a:ext cx="1000125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D9E6EE"/>
                </a:solidFill>
                <a:latin typeface="IBM Plex Sans"/>
                <a:ea typeface="IBM Plex Sans"/>
                <a:cs typeface="IBM Plex Sans"/>
                <a:sym typeface="IBM Plex Sans"/>
              </a:rPr>
              <a:t>Una bitácora inmutable responde siempre: quién, qué y cuándo.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38250" y="4381500"/>
            <a:ext cx="3333750" cy="1809750"/>
            <a:chOff x="0" y="0"/>
            <a:chExt cx="4445000" cy="2413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45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4445000">
                  <a:moveTo>
                    <a:pt x="58057" y="0"/>
                  </a:moveTo>
                  <a:lnTo>
                    <a:pt x="4386943" y="0"/>
                  </a:lnTo>
                  <a:cubicBezTo>
                    <a:pt x="4402341" y="0"/>
                    <a:pt x="4417108" y="6117"/>
                    <a:pt x="4427996" y="17005"/>
                  </a:cubicBezTo>
                  <a:cubicBezTo>
                    <a:pt x="4438883" y="27892"/>
                    <a:pt x="4445000" y="42659"/>
                    <a:pt x="4445000" y="58057"/>
                  </a:cubicBezTo>
                  <a:lnTo>
                    <a:pt x="4445000" y="2354943"/>
                  </a:lnTo>
                  <a:cubicBezTo>
                    <a:pt x="4445000" y="2370341"/>
                    <a:pt x="4438883" y="2385108"/>
                    <a:pt x="4427996" y="2395995"/>
                  </a:cubicBezTo>
                  <a:cubicBezTo>
                    <a:pt x="4417108" y="2406883"/>
                    <a:pt x="4402341" y="2413000"/>
                    <a:pt x="4386943" y="2413000"/>
                  </a:cubicBezTo>
                  <a:lnTo>
                    <a:pt x="58057" y="2413000"/>
                  </a:lnTo>
                  <a:cubicBezTo>
                    <a:pt x="42659" y="2413000"/>
                    <a:pt x="27892" y="2406883"/>
                    <a:pt x="17005" y="2395995"/>
                  </a:cubicBezTo>
                  <a:cubicBezTo>
                    <a:pt x="6117" y="2385108"/>
                    <a:pt x="0" y="2370341"/>
                    <a:pt x="0" y="2354943"/>
                  </a:cubicBezTo>
                  <a:lnTo>
                    <a:pt x="0" y="58057"/>
                  </a:lnTo>
                  <a:cubicBezTo>
                    <a:pt x="0" y="42659"/>
                    <a:pt x="6117" y="27892"/>
                    <a:pt x="17005" y="17005"/>
                  </a:cubicBezTo>
                  <a:cubicBezTo>
                    <a:pt x="27892" y="6117"/>
                    <a:pt x="42659" y="0"/>
                    <a:pt x="58057" y="0"/>
                  </a:cubicBezTo>
                  <a:close/>
                </a:path>
              </a:pathLst>
            </a:custGeom>
            <a:solidFill>
              <a:srgbClr val="F28C28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4445000" cy="2403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USUARIO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identidad + rol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4667250" y="5286375"/>
            <a:ext cx="666750" cy="0"/>
          </a:xfrm>
          <a:prstGeom prst="line">
            <a:avLst/>
          </a:prstGeom>
          <a:ln cap="flat" w="38100">
            <a:solidFill>
              <a:srgbClr val="F28C2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5429250" y="4381500"/>
            <a:ext cx="3333750" cy="1809750"/>
            <a:chOff x="0" y="0"/>
            <a:chExt cx="4445000" cy="2413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45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4445000">
                  <a:moveTo>
                    <a:pt x="58057" y="0"/>
                  </a:moveTo>
                  <a:lnTo>
                    <a:pt x="4386943" y="0"/>
                  </a:lnTo>
                  <a:cubicBezTo>
                    <a:pt x="4402341" y="0"/>
                    <a:pt x="4417108" y="6117"/>
                    <a:pt x="4427996" y="17005"/>
                  </a:cubicBezTo>
                  <a:cubicBezTo>
                    <a:pt x="4438883" y="27892"/>
                    <a:pt x="4445000" y="42659"/>
                    <a:pt x="4445000" y="58057"/>
                  </a:cubicBezTo>
                  <a:lnTo>
                    <a:pt x="4445000" y="2354943"/>
                  </a:lnTo>
                  <a:cubicBezTo>
                    <a:pt x="4445000" y="2370341"/>
                    <a:pt x="4438883" y="2385108"/>
                    <a:pt x="4427996" y="2395995"/>
                  </a:cubicBezTo>
                  <a:cubicBezTo>
                    <a:pt x="4417108" y="2406883"/>
                    <a:pt x="4402341" y="2413000"/>
                    <a:pt x="4386943" y="2413000"/>
                  </a:cubicBezTo>
                  <a:lnTo>
                    <a:pt x="58057" y="2413000"/>
                  </a:lnTo>
                  <a:cubicBezTo>
                    <a:pt x="42659" y="2413000"/>
                    <a:pt x="27892" y="2406883"/>
                    <a:pt x="17005" y="2395995"/>
                  </a:cubicBezTo>
                  <a:cubicBezTo>
                    <a:pt x="6117" y="2385108"/>
                    <a:pt x="0" y="2370341"/>
                    <a:pt x="0" y="2354943"/>
                  </a:cubicBezTo>
                  <a:lnTo>
                    <a:pt x="0" y="58057"/>
                  </a:lnTo>
                  <a:cubicBezTo>
                    <a:pt x="0" y="42659"/>
                    <a:pt x="6117" y="27892"/>
                    <a:pt x="17005" y="17005"/>
                  </a:cubicBezTo>
                  <a:cubicBezTo>
                    <a:pt x="27892" y="6117"/>
                    <a:pt x="42659" y="0"/>
                    <a:pt x="58057" y="0"/>
                  </a:cubicBezTo>
                  <a:close/>
                </a:path>
              </a:pathLst>
            </a:custGeom>
            <a:solidFill>
              <a:srgbClr val="F28C28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4445000" cy="2403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EVENTO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acción crítica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8858250" y="5286375"/>
            <a:ext cx="666750" cy="0"/>
          </a:xfrm>
          <a:prstGeom prst="line">
            <a:avLst/>
          </a:prstGeom>
          <a:ln cap="flat" w="38100">
            <a:solidFill>
              <a:srgbClr val="F28C2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9620250" y="4381500"/>
            <a:ext cx="3333750" cy="1809750"/>
            <a:chOff x="0" y="0"/>
            <a:chExt cx="4445000" cy="2413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445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4445000">
                  <a:moveTo>
                    <a:pt x="58057" y="0"/>
                  </a:moveTo>
                  <a:lnTo>
                    <a:pt x="4386943" y="0"/>
                  </a:lnTo>
                  <a:cubicBezTo>
                    <a:pt x="4402341" y="0"/>
                    <a:pt x="4417108" y="6117"/>
                    <a:pt x="4427996" y="17005"/>
                  </a:cubicBezTo>
                  <a:cubicBezTo>
                    <a:pt x="4438883" y="27892"/>
                    <a:pt x="4445000" y="42659"/>
                    <a:pt x="4445000" y="58057"/>
                  </a:cubicBezTo>
                  <a:lnTo>
                    <a:pt x="4445000" y="2354943"/>
                  </a:lnTo>
                  <a:cubicBezTo>
                    <a:pt x="4445000" y="2370341"/>
                    <a:pt x="4438883" y="2385108"/>
                    <a:pt x="4427996" y="2395995"/>
                  </a:cubicBezTo>
                  <a:cubicBezTo>
                    <a:pt x="4417108" y="2406883"/>
                    <a:pt x="4402341" y="2413000"/>
                    <a:pt x="4386943" y="2413000"/>
                  </a:cubicBezTo>
                  <a:lnTo>
                    <a:pt x="58057" y="2413000"/>
                  </a:lnTo>
                  <a:cubicBezTo>
                    <a:pt x="42659" y="2413000"/>
                    <a:pt x="27892" y="2406883"/>
                    <a:pt x="17005" y="2395995"/>
                  </a:cubicBezTo>
                  <a:cubicBezTo>
                    <a:pt x="6117" y="2385108"/>
                    <a:pt x="0" y="2370341"/>
                    <a:pt x="0" y="2354943"/>
                  </a:cubicBezTo>
                  <a:lnTo>
                    <a:pt x="0" y="58057"/>
                  </a:lnTo>
                  <a:cubicBezTo>
                    <a:pt x="0" y="42659"/>
                    <a:pt x="6117" y="27892"/>
                    <a:pt x="17005" y="17005"/>
                  </a:cubicBezTo>
                  <a:cubicBezTo>
                    <a:pt x="27892" y="6117"/>
                    <a:pt x="42659" y="0"/>
                    <a:pt x="58057" y="0"/>
                  </a:cubicBezTo>
                  <a:close/>
                </a:path>
              </a:pathLst>
            </a:custGeom>
            <a:solidFill>
              <a:srgbClr val="F28C28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9525"/>
              <a:ext cx="4445000" cy="2403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REGISTRO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fecha + evidencia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13049250" y="5286375"/>
            <a:ext cx="666750" cy="0"/>
          </a:xfrm>
          <a:prstGeom prst="line">
            <a:avLst/>
          </a:prstGeom>
          <a:ln cap="flat" w="38100">
            <a:solidFill>
              <a:srgbClr val="F28C2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13811250" y="4381500"/>
            <a:ext cx="3333750" cy="1809750"/>
            <a:chOff x="0" y="0"/>
            <a:chExt cx="4445000" cy="2413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445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4445000">
                  <a:moveTo>
                    <a:pt x="58057" y="0"/>
                  </a:moveTo>
                  <a:lnTo>
                    <a:pt x="4386943" y="0"/>
                  </a:lnTo>
                  <a:cubicBezTo>
                    <a:pt x="4402341" y="0"/>
                    <a:pt x="4417108" y="6117"/>
                    <a:pt x="4427996" y="17005"/>
                  </a:cubicBezTo>
                  <a:cubicBezTo>
                    <a:pt x="4438883" y="27892"/>
                    <a:pt x="4445000" y="42659"/>
                    <a:pt x="4445000" y="58057"/>
                  </a:cubicBezTo>
                  <a:lnTo>
                    <a:pt x="4445000" y="2354943"/>
                  </a:lnTo>
                  <a:cubicBezTo>
                    <a:pt x="4445000" y="2370341"/>
                    <a:pt x="4438883" y="2385108"/>
                    <a:pt x="4427996" y="2395995"/>
                  </a:cubicBezTo>
                  <a:cubicBezTo>
                    <a:pt x="4417108" y="2406883"/>
                    <a:pt x="4402341" y="2413000"/>
                    <a:pt x="4386943" y="2413000"/>
                  </a:cubicBezTo>
                  <a:lnTo>
                    <a:pt x="58057" y="2413000"/>
                  </a:lnTo>
                  <a:cubicBezTo>
                    <a:pt x="42659" y="2413000"/>
                    <a:pt x="27892" y="2406883"/>
                    <a:pt x="17005" y="2395995"/>
                  </a:cubicBezTo>
                  <a:cubicBezTo>
                    <a:pt x="6117" y="2385108"/>
                    <a:pt x="0" y="2370341"/>
                    <a:pt x="0" y="2354943"/>
                  </a:cubicBezTo>
                  <a:lnTo>
                    <a:pt x="0" y="58057"/>
                  </a:lnTo>
                  <a:cubicBezTo>
                    <a:pt x="0" y="42659"/>
                    <a:pt x="6117" y="27892"/>
                    <a:pt x="17005" y="17005"/>
                  </a:cubicBezTo>
                  <a:cubicBezTo>
                    <a:pt x="27892" y="6117"/>
                    <a:pt x="42659" y="0"/>
                    <a:pt x="58057" y="0"/>
                  </a:cubicBezTo>
                  <a:close/>
                </a:path>
              </a:pathLst>
            </a:custGeom>
            <a:solidFill>
              <a:srgbClr val="F28C28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9525"/>
              <a:ext cx="4445000" cy="2403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ALERTA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revisión + control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000500" y="7381875"/>
            <a:ext cx="10287000" cy="842010"/>
            <a:chOff x="0" y="0"/>
            <a:chExt cx="13716000" cy="1122680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38100"/>
              <a:ext cx="13716000" cy="4419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24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Tarifas · Créditos · Estados de arriendo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733425"/>
              <a:ext cx="13716000" cy="389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30"/>
                </a:lnSpc>
              </a:pPr>
              <a:r>
                <a:rPr lang="en-US" sz="1800">
                  <a:solidFill>
                    <a:srgbClr val="D9E6EE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Transparencia operativa y prevención de fraude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8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428625"/>
            <a:ext cx="4953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F28C28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KRANECHILE  /  10</a:t>
            </a:r>
          </a:p>
        </p:txBody>
      </p:sp>
      <p:sp>
        <p:nvSpPr>
          <p:cNvPr name="AutoShape 3" id="3"/>
          <p:cNvSpPr/>
          <p:nvPr/>
        </p:nvSpPr>
        <p:spPr>
          <a:xfrm>
            <a:off x="952500" y="838200"/>
            <a:ext cx="16383000" cy="0"/>
          </a:xfrm>
          <a:prstGeom prst="line">
            <a:avLst/>
          </a:prstGeom>
          <a:ln cap="flat" w="19050">
            <a:solidFill>
              <a:srgbClr val="24425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5811500" y="9620250"/>
            <a:ext cx="1524000" cy="196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200">
                <a:solidFill>
                  <a:srgbClr val="D9E6EE"/>
                </a:solidFill>
                <a:latin typeface="IBM Plex Sans"/>
                <a:ea typeface="IBM Plex Sans"/>
                <a:cs typeface="IBM Plex Sans"/>
                <a:sym typeface="IBM Plex Sans"/>
              </a:rPr>
              <a:t>10  /  12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2500" y="1400175"/>
            <a:ext cx="11430000" cy="651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1"/>
              </a:lnSpc>
            </a:pPr>
            <a:r>
              <a:rPr lang="en-US" sz="472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Desarrollo estructurado en 5 sprints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500" y="2295525"/>
            <a:ext cx="904875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D9E6EE"/>
                </a:solidFill>
                <a:latin typeface="IBM Plex Sans"/>
                <a:ea typeface="IBM Plex Sans"/>
                <a:cs typeface="IBM Plex Sans"/>
                <a:sym typeface="IBM Plex Sans"/>
              </a:rPr>
              <a:t>De la base técnica a una operación móvil integrada</a:t>
            </a:r>
          </a:p>
        </p:txBody>
      </p:sp>
      <p:sp>
        <p:nvSpPr>
          <p:cNvPr name="AutoShape 7" id="7"/>
          <p:cNvSpPr/>
          <p:nvPr/>
        </p:nvSpPr>
        <p:spPr>
          <a:xfrm>
            <a:off x="1714500" y="5524500"/>
            <a:ext cx="14859000" cy="0"/>
          </a:xfrm>
          <a:prstGeom prst="line">
            <a:avLst/>
          </a:prstGeom>
          <a:ln cap="rnd" w="57150">
            <a:solidFill>
              <a:srgbClr val="F28C2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952500" y="4476750"/>
            <a:ext cx="2286000" cy="1714500"/>
            <a:chOff x="0" y="0"/>
            <a:chExt cx="3048000" cy="228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048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3048000">
                  <a:moveTo>
                    <a:pt x="203200" y="0"/>
                  </a:moveTo>
                  <a:lnTo>
                    <a:pt x="2844800" y="0"/>
                  </a:lnTo>
                  <a:cubicBezTo>
                    <a:pt x="2957024" y="0"/>
                    <a:pt x="3048000" y="90976"/>
                    <a:pt x="3048000" y="203200"/>
                  </a:cubicBezTo>
                  <a:lnTo>
                    <a:pt x="3048000" y="2082800"/>
                  </a:lnTo>
                  <a:cubicBezTo>
                    <a:pt x="3048000" y="2195024"/>
                    <a:pt x="2957024" y="2286000"/>
                    <a:pt x="2844800" y="2286000"/>
                  </a:cubicBezTo>
                  <a:lnTo>
                    <a:pt x="203200" y="2286000"/>
                  </a:lnTo>
                  <a:cubicBezTo>
                    <a:pt x="90976" y="2286000"/>
                    <a:pt x="0" y="2195024"/>
                    <a:pt x="0" y="2082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8C2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3048000" cy="2276475"/>
            </a:xfrm>
            <a:prstGeom prst="rect">
              <a:avLst/>
            </a:prstGeom>
          </p:spPr>
          <p:txBody>
            <a:bodyPr anchor="ctr" rtlCol="false" tIns="177800" lIns="177800" bIns="177800" rIns="177800"/>
            <a:lstStyle/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Sprint 1: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Documentación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8 actividades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810000" y="4476750"/>
            <a:ext cx="2286000" cy="1714500"/>
            <a:chOff x="0" y="0"/>
            <a:chExt cx="3048000" cy="2286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048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3048000">
                  <a:moveTo>
                    <a:pt x="203200" y="0"/>
                  </a:moveTo>
                  <a:lnTo>
                    <a:pt x="2844800" y="0"/>
                  </a:lnTo>
                  <a:cubicBezTo>
                    <a:pt x="2957024" y="0"/>
                    <a:pt x="3048000" y="90976"/>
                    <a:pt x="3048000" y="203200"/>
                  </a:cubicBezTo>
                  <a:lnTo>
                    <a:pt x="3048000" y="2082800"/>
                  </a:lnTo>
                  <a:cubicBezTo>
                    <a:pt x="3048000" y="2195024"/>
                    <a:pt x="2957024" y="2286000"/>
                    <a:pt x="2844800" y="2286000"/>
                  </a:cubicBezTo>
                  <a:lnTo>
                    <a:pt x="203200" y="2286000"/>
                  </a:lnTo>
                  <a:cubicBezTo>
                    <a:pt x="90976" y="2286000"/>
                    <a:pt x="0" y="2195024"/>
                    <a:pt x="0" y="2082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8C2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3048000" cy="2276475"/>
            </a:xfrm>
            <a:prstGeom prst="rect">
              <a:avLst/>
            </a:prstGeom>
          </p:spPr>
          <p:txBody>
            <a:bodyPr anchor="ctr" rtlCol="false" tIns="177800" lIns="177800" bIns="177800" rIns="177800"/>
            <a:lstStyle/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Sprint 2: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Frontend y UX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14 actividades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667500" y="4476750"/>
            <a:ext cx="2286000" cy="1714500"/>
            <a:chOff x="0" y="0"/>
            <a:chExt cx="3048000" cy="228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048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3048000">
                  <a:moveTo>
                    <a:pt x="203200" y="0"/>
                  </a:moveTo>
                  <a:lnTo>
                    <a:pt x="2844800" y="0"/>
                  </a:lnTo>
                  <a:cubicBezTo>
                    <a:pt x="2957024" y="0"/>
                    <a:pt x="3048000" y="90976"/>
                    <a:pt x="3048000" y="203200"/>
                  </a:cubicBezTo>
                  <a:lnTo>
                    <a:pt x="3048000" y="2082800"/>
                  </a:lnTo>
                  <a:cubicBezTo>
                    <a:pt x="3048000" y="2195024"/>
                    <a:pt x="2957024" y="2286000"/>
                    <a:pt x="2844800" y="2286000"/>
                  </a:cubicBezTo>
                  <a:lnTo>
                    <a:pt x="203200" y="2286000"/>
                  </a:lnTo>
                  <a:cubicBezTo>
                    <a:pt x="90976" y="2286000"/>
                    <a:pt x="0" y="2195024"/>
                    <a:pt x="0" y="2082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8C2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9525"/>
              <a:ext cx="3048000" cy="2276475"/>
            </a:xfrm>
            <a:prstGeom prst="rect">
              <a:avLst/>
            </a:prstGeom>
          </p:spPr>
          <p:txBody>
            <a:bodyPr anchor="ctr" rtlCol="false" tIns="177800" lIns="177800" bIns="177800" rIns="177800"/>
            <a:lstStyle/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Sprint 3: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Backend y Negocio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20 actividades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525000" y="4476750"/>
            <a:ext cx="2286000" cy="1714500"/>
            <a:chOff x="0" y="0"/>
            <a:chExt cx="3048000" cy="2286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048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3048000">
                  <a:moveTo>
                    <a:pt x="203200" y="0"/>
                  </a:moveTo>
                  <a:lnTo>
                    <a:pt x="2844800" y="0"/>
                  </a:lnTo>
                  <a:cubicBezTo>
                    <a:pt x="2957024" y="0"/>
                    <a:pt x="3048000" y="90976"/>
                    <a:pt x="3048000" y="203200"/>
                  </a:cubicBezTo>
                  <a:lnTo>
                    <a:pt x="3048000" y="2082800"/>
                  </a:lnTo>
                  <a:cubicBezTo>
                    <a:pt x="3048000" y="2195024"/>
                    <a:pt x="2957024" y="2286000"/>
                    <a:pt x="2844800" y="2286000"/>
                  </a:cubicBezTo>
                  <a:lnTo>
                    <a:pt x="203200" y="2286000"/>
                  </a:lnTo>
                  <a:cubicBezTo>
                    <a:pt x="90976" y="2286000"/>
                    <a:pt x="0" y="2195024"/>
                    <a:pt x="0" y="2082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8C2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3048000" cy="2276475"/>
            </a:xfrm>
            <a:prstGeom prst="rect">
              <a:avLst/>
            </a:prstGeom>
          </p:spPr>
          <p:txBody>
            <a:bodyPr anchor="ctr" rtlCol="false" tIns="177800" lIns="177800" bIns="177800" rIns="177800"/>
            <a:lstStyle/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Sprint 4: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Integraciones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12 actividades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382500" y="4476750"/>
            <a:ext cx="2286000" cy="1714500"/>
            <a:chOff x="0" y="0"/>
            <a:chExt cx="3048000" cy="2286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048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3048000">
                  <a:moveTo>
                    <a:pt x="203200" y="0"/>
                  </a:moveTo>
                  <a:lnTo>
                    <a:pt x="2844800" y="0"/>
                  </a:lnTo>
                  <a:cubicBezTo>
                    <a:pt x="2957024" y="0"/>
                    <a:pt x="3048000" y="90976"/>
                    <a:pt x="3048000" y="203200"/>
                  </a:cubicBezTo>
                  <a:lnTo>
                    <a:pt x="3048000" y="2082800"/>
                  </a:lnTo>
                  <a:cubicBezTo>
                    <a:pt x="3048000" y="2195024"/>
                    <a:pt x="2957024" y="2286000"/>
                    <a:pt x="2844800" y="2286000"/>
                  </a:cubicBezTo>
                  <a:lnTo>
                    <a:pt x="203200" y="2286000"/>
                  </a:lnTo>
                  <a:cubicBezTo>
                    <a:pt x="90976" y="2286000"/>
                    <a:pt x="0" y="2195024"/>
                    <a:pt x="0" y="2082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8C28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9525"/>
              <a:ext cx="3048000" cy="2276475"/>
            </a:xfrm>
            <a:prstGeom prst="rect">
              <a:avLst/>
            </a:prstGeom>
          </p:spPr>
          <p:txBody>
            <a:bodyPr anchor="ctr" rtlCol="false" tIns="177800" lIns="177800" bIns="177800" rIns="177800"/>
            <a:lstStyle/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Sprint 5: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Dashboard y Cierre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31 actividades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5240000" y="4476750"/>
            <a:ext cx="2286000" cy="1714500"/>
            <a:chOff x="0" y="0"/>
            <a:chExt cx="3048000" cy="2286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048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3048000">
                  <a:moveTo>
                    <a:pt x="203200" y="0"/>
                  </a:moveTo>
                  <a:lnTo>
                    <a:pt x="2844800" y="0"/>
                  </a:lnTo>
                  <a:cubicBezTo>
                    <a:pt x="2957024" y="0"/>
                    <a:pt x="3048000" y="90976"/>
                    <a:pt x="3048000" y="203200"/>
                  </a:cubicBezTo>
                  <a:lnTo>
                    <a:pt x="3048000" y="2082800"/>
                  </a:lnTo>
                  <a:cubicBezTo>
                    <a:pt x="3048000" y="2195024"/>
                    <a:pt x="2957024" y="2286000"/>
                    <a:pt x="2844800" y="2286000"/>
                  </a:cubicBezTo>
                  <a:lnTo>
                    <a:pt x="203200" y="2286000"/>
                  </a:lnTo>
                  <a:cubicBezTo>
                    <a:pt x="90976" y="2286000"/>
                    <a:pt x="0" y="2195024"/>
                    <a:pt x="0" y="2082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8C28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9525"/>
              <a:ext cx="3048000" cy="2276475"/>
            </a:xfrm>
            <a:prstGeom prst="rect">
              <a:avLst/>
            </a:prstGeom>
          </p:spPr>
          <p:txBody>
            <a:bodyPr anchor="ctr" rtlCol="false" tIns="177800" lIns="177800" bIns="177800" rIns="177800"/>
            <a:lstStyle/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Backlog</a:t>
              </a:r>
            </a:p>
            <a:p>
              <a:pPr algn="ctr">
                <a:lnSpc>
                  <a:spcPts val="1897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4086" y="634055"/>
            <a:ext cx="16559828" cy="229572"/>
          </a:xfrm>
          <a:custGeom>
            <a:avLst/>
            <a:gdLst/>
            <a:ahLst/>
            <a:cxnLst/>
            <a:rect r="r" b="b" t="t" l="l"/>
            <a:pathLst>
              <a:path h="229572" w="16559828">
                <a:moveTo>
                  <a:pt x="0" y="0"/>
                </a:moveTo>
                <a:lnTo>
                  <a:pt x="16559828" y="0"/>
                </a:lnTo>
                <a:lnTo>
                  <a:pt x="1655982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51955" y="2786539"/>
            <a:ext cx="11721306" cy="5761109"/>
          </a:xfrm>
          <a:custGeom>
            <a:avLst/>
            <a:gdLst/>
            <a:ahLst/>
            <a:cxnLst/>
            <a:rect r="r" b="b" t="t" l="l"/>
            <a:pathLst>
              <a:path h="5761109" w="11721306">
                <a:moveTo>
                  <a:pt x="0" y="0"/>
                </a:moveTo>
                <a:lnTo>
                  <a:pt x="11721306" y="0"/>
                </a:lnTo>
                <a:lnTo>
                  <a:pt x="11721306" y="5761109"/>
                </a:lnTo>
                <a:lnTo>
                  <a:pt x="0" y="57611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14400" y="1104476"/>
            <a:ext cx="9363456" cy="541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7"/>
              </a:lnSpc>
            </a:pPr>
            <a:r>
              <a:rPr lang="en-US" sz="4107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Cronograma de Implementación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" y="1833489"/>
            <a:ext cx="4700016" cy="219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7"/>
              </a:lnSpc>
            </a:pPr>
            <a:r>
              <a:rPr lang="en-US" sz="16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Carta Gantt • Plan de trabajo en 14 semanas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" y="443128"/>
            <a:ext cx="1901952" cy="171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9"/>
              </a:lnSpc>
            </a:pPr>
            <a:r>
              <a:rPr lang="en-US" b="true" sz="1254" spc="25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KRANECHILE / 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8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428625"/>
            <a:ext cx="4953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F28C28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KRANECHILE  /  11</a:t>
            </a:r>
          </a:p>
        </p:txBody>
      </p:sp>
      <p:sp>
        <p:nvSpPr>
          <p:cNvPr name="AutoShape 3" id="3"/>
          <p:cNvSpPr/>
          <p:nvPr/>
        </p:nvSpPr>
        <p:spPr>
          <a:xfrm>
            <a:off x="952500" y="838200"/>
            <a:ext cx="16383000" cy="0"/>
          </a:xfrm>
          <a:prstGeom prst="line">
            <a:avLst/>
          </a:prstGeom>
          <a:ln cap="flat" w="19050">
            <a:solidFill>
              <a:srgbClr val="24425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5811500" y="9620250"/>
            <a:ext cx="1524000" cy="196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200">
                <a:solidFill>
                  <a:srgbClr val="D9E6EE"/>
                </a:solidFill>
                <a:latin typeface="IBM Plex Sans"/>
                <a:ea typeface="IBM Plex Sans"/>
                <a:cs typeface="IBM Plex Sans"/>
                <a:sym typeface="IBM Plex Sans"/>
              </a:rPr>
              <a:t>11  /  12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2500" y="1304925"/>
            <a:ext cx="10477500" cy="630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3"/>
              </a:lnSpc>
            </a:pPr>
            <a:r>
              <a:rPr lang="en-US" sz="457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Arquitectura moderna y escalable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500" y="2200275"/>
            <a:ext cx="85725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D9E6EE"/>
                </a:solidFill>
                <a:latin typeface="IBM Plex Sans"/>
                <a:ea typeface="IBM Plex Sans"/>
                <a:cs typeface="IBM Plex Sans"/>
                <a:sym typeface="IBM Plex Sans"/>
              </a:rPr>
              <a:t>Un núcleo transaccional. Múltiples puntos de integración.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762750" y="4191000"/>
            <a:ext cx="4762500" cy="2000250"/>
            <a:chOff x="0" y="0"/>
            <a:chExt cx="6350000" cy="2667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6350000">
                  <a:moveTo>
                    <a:pt x="40640" y="0"/>
                  </a:moveTo>
                  <a:lnTo>
                    <a:pt x="6309360" y="0"/>
                  </a:lnTo>
                  <a:cubicBezTo>
                    <a:pt x="6331805" y="0"/>
                    <a:pt x="6350000" y="18195"/>
                    <a:pt x="6350000" y="40640"/>
                  </a:cubicBezTo>
                  <a:lnTo>
                    <a:pt x="6350000" y="2626360"/>
                  </a:lnTo>
                  <a:cubicBezTo>
                    <a:pt x="6350000" y="2648805"/>
                    <a:pt x="6331805" y="2667000"/>
                    <a:pt x="6309360" y="2667000"/>
                  </a:cubicBezTo>
                  <a:lnTo>
                    <a:pt x="40640" y="2667000"/>
                  </a:lnTo>
                  <a:cubicBezTo>
                    <a:pt x="18195" y="2667000"/>
                    <a:pt x="0" y="2648805"/>
                    <a:pt x="0" y="2626360"/>
                  </a:cubicBezTo>
                  <a:lnTo>
                    <a:pt x="0" y="40640"/>
                  </a:lnTo>
                  <a:cubicBezTo>
                    <a:pt x="0" y="18195"/>
                    <a:pt x="18195" y="0"/>
                    <a:pt x="40640" y="0"/>
                  </a:cubicBezTo>
                  <a:close/>
                </a:path>
              </a:pathLst>
            </a:custGeom>
            <a:solidFill>
              <a:srgbClr val="FF914D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6350000" cy="265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BACKEND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Python 3.12 · Django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REST Framework · SimpleJWT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38250" y="3810000"/>
            <a:ext cx="3810000" cy="1428750"/>
            <a:chOff x="0" y="0"/>
            <a:chExt cx="5080000" cy="1905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080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5080000">
                  <a:moveTo>
                    <a:pt x="50800" y="0"/>
                  </a:moveTo>
                  <a:lnTo>
                    <a:pt x="5029200" y="0"/>
                  </a:lnTo>
                  <a:cubicBezTo>
                    <a:pt x="5057256" y="0"/>
                    <a:pt x="5080000" y="22744"/>
                    <a:pt x="5080000" y="50800"/>
                  </a:cubicBezTo>
                  <a:lnTo>
                    <a:pt x="5080000" y="1854200"/>
                  </a:lnTo>
                  <a:cubicBezTo>
                    <a:pt x="5080000" y="1882256"/>
                    <a:pt x="5057256" y="1905000"/>
                    <a:pt x="5029200" y="1905000"/>
                  </a:cubicBezTo>
                  <a:lnTo>
                    <a:pt x="50800" y="1905000"/>
                  </a:lnTo>
                  <a:cubicBezTo>
                    <a:pt x="22744" y="1905000"/>
                    <a:pt x="0" y="1882256"/>
                    <a:pt x="0" y="1854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F28C28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9525"/>
              <a:ext cx="5080000" cy="1895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APP MÓVIL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Flutter · Android ARM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5048250" y="4524375"/>
            <a:ext cx="1714500" cy="666750"/>
          </a:xfrm>
          <a:prstGeom prst="line">
            <a:avLst/>
          </a:prstGeom>
          <a:ln cap="flat" w="38100">
            <a:solidFill>
              <a:srgbClr val="F28C2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238250" y="6667500"/>
            <a:ext cx="3810000" cy="1428750"/>
            <a:chOff x="0" y="0"/>
            <a:chExt cx="5080000" cy="1905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080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5080000">
                  <a:moveTo>
                    <a:pt x="50800" y="0"/>
                  </a:moveTo>
                  <a:lnTo>
                    <a:pt x="5029200" y="0"/>
                  </a:lnTo>
                  <a:cubicBezTo>
                    <a:pt x="5057256" y="0"/>
                    <a:pt x="5080000" y="22744"/>
                    <a:pt x="5080000" y="50800"/>
                  </a:cubicBezTo>
                  <a:lnTo>
                    <a:pt x="5080000" y="1854200"/>
                  </a:lnTo>
                  <a:cubicBezTo>
                    <a:pt x="5080000" y="1882256"/>
                    <a:pt x="5057256" y="1905000"/>
                    <a:pt x="5029200" y="1905000"/>
                  </a:cubicBezTo>
                  <a:lnTo>
                    <a:pt x="50800" y="1905000"/>
                  </a:lnTo>
                  <a:cubicBezTo>
                    <a:pt x="22744" y="1905000"/>
                    <a:pt x="0" y="1882256"/>
                    <a:pt x="0" y="1854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F28C28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9525"/>
              <a:ext cx="5080000" cy="1895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BASE DE DATOS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MYSQL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 flipV="true">
            <a:off x="5048250" y="5191125"/>
            <a:ext cx="1714500" cy="2190750"/>
          </a:xfrm>
          <a:prstGeom prst="line">
            <a:avLst/>
          </a:prstGeom>
          <a:ln cap="flat" w="38100">
            <a:solidFill>
              <a:srgbClr val="F28C2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3239750" y="3810000"/>
            <a:ext cx="3810000" cy="1428750"/>
            <a:chOff x="0" y="0"/>
            <a:chExt cx="5080000" cy="1905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080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5080000">
                  <a:moveTo>
                    <a:pt x="50800" y="0"/>
                  </a:moveTo>
                  <a:lnTo>
                    <a:pt x="5029200" y="0"/>
                  </a:lnTo>
                  <a:cubicBezTo>
                    <a:pt x="5057256" y="0"/>
                    <a:pt x="5080000" y="22744"/>
                    <a:pt x="5080000" y="50800"/>
                  </a:cubicBezTo>
                  <a:lnTo>
                    <a:pt x="5080000" y="1854200"/>
                  </a:lnTo>
                  <a:cubicBezTo>
                    <a:pt x="5080000" y="1882256"/>
                    <a:pt x="5057256" y="1905000"/>
                    <a:pt x="5029200" y="1905000"/>
                  </a:cubicBezTo>
                  <a:lnTo>
                    <a:pt x="50800" y="1905000"/>
                  </a:lnTo>
                  <a:cubicBezTo>
                    <a:pt x="22744" y="1905000"/>
                    <a:pt x="0" y="1882256"/>
                    <a:pt x="0" y="1854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F28C28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9525"/>
              <a:ext cx="5080000" cy="1895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PAGOS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SDK Transbank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flipH="true">
            <a:off x="11525250" y="4524375"/>
            <a:ext cx="1714500" cy="666750"/>
          </a:xfrm>
          <a:prstGeom prst="line">
            <a:avLst/>
          </a:prstGeom>
          <a:ln cap="flat" w="38100">
            <a:solidFill>
              <a:srgbClr val="F28C2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13239750" y="6667500"/>
            <a:ext cx="3810000" cy="1428750"/>
            <a:chOff x="0" y="0"/>
            <a:chExt cx="5080000" cy="1905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080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5080000">
                  <a:moveTo>
                    <a:pt x="50800" y="0"/>
                  </a:moveTo>
                  <a:lnTo>
                    <a:pt x="5029200" y="0"/>
                  </a:lnTo>
                  <a:cubicBezTo>
                    <a:pt x="5057256" y="0"/>
                    <a:pt x="5080000" y="22744"/>
                    <a:pt x="5080000" y="50800"/>
                  </a:cubicBezTo>
                  <a:lnTo>
                    <a:pt x="5080000" y="1854200"/>
                  </a:lnTo>
                  <a:cubicBezTo>
                    <a:pt x="5080000" y="1882256"/>
                    <a:pt x="5057256" y="1905000"/>
                    <a:pt x="5029200" y="1905000"/>
                  </a:cubicBezTo>
                  <a:lnTo>
                    <a:pt x="50800" y="1905000"/>
                  </a:lnTo>
                  <a:cubicBezTo>
                    <a:pt x="22744" y="1905000"/>
                    <a:pt x="0" y="1882256"/>
                    <a:pt x="0" y="1854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F28C28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9525"/>
              <a:ext cx="5080000" cy="1895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APIs EXTERNAS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Combustible · Georreferencia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flipH="true" flipV="true">
            <a:off x="11525250" y="5191125"/>
            <a:ext cx="1714500" cy="2190750"/>
          </a:xfrm>
          <a:prstGeom prst="line">
            <a:avLst/>
          </a:prstGeom>
          <a:ln cap="flat" w="38100">
            <a:solidFill>
              <a:srgbClr val="F28C28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184708" y="207708"/>
            <a:ext cx="6103292" cy="9445237"/>
          </a:xfrm>
          <a:custGeom>
            <a:avLst/>
            <a:gdLst/>
            <a:ahLst/>
            <a:cxnLst/>
            <a:rect r="r" b="b" t="t" l="l"/>
            <a:pathLst>
              <a:path h="9445237" w="6103292">
                <a:moveTo>
                  <a:pt x="0" y="0"/>
                </a:moveTo>
                <a:lnTo>
                  <a:pt x="6103292" y="0"/>
                </a:lnTo>
                <a:lnTo>
                  <a:pt x="6103292" y="9445237"/>
                </a:lnTo>
                <a:lnTo>
                  <a:pt x="0" y="94452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923818" y="1071335"/>
            <a:ext cx="1323474" cy="1508614"/>
          </a:xfrm>
          <a:custGeom>
            <a:avLst/>
            <a:gdLst/>
            <a:ahLst/>
            <a:cxnLst/>
            <a:rect r="r" b="b" t="t" l="l"/>
            <a:pathLst>
              <a:path h="1508614" w="1323474">
                <a:moveTo>
                  <a:pt x="0" y="0"/>
                </a:moveTo>
                <a:lnTo>
                  <a:pt x="1323474" y="0"/>
                </a:lnTo>
                <a:lnTo>
                  <a:pt x="132347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622220" y="2569017"/>
            <a:ext cx="1531292" cy="1508614"/>
          </a:xfrm>
          <a:custGeom>
            <a:avLst/>
            <a:gdLst/>
            <a:ahLst/>
            <a:cxnLst/>
            <a:rect r="r" b="b" t="t" l="l"/>
            <a:pathLst>
              <a:path h="1508614" w="1531292">
                <a:moveTo>
                  <a:pt x="0" y="0"/>
                </a:moveTo>
                <a:lnTo>
                  <a:pt x="1531292" y="0"/>
                </a:lnTo>
                <a:lnTo>
                  <a:pt x="153129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716000" y="3848060"/>
            <a:ext cx="1531292" cy="1727254"/>
          </a:xfrm>
          <a:custGeom>
            <a:avLst/>
            <a:gdLst/>
            <a:ahLst/>
            <a:cxnLst/>
            <a:rect r="r" b="b" t="t" l="l"/>
            <a:pathLst>
              <a:path h="1727254" w="1531292">
                <a:moveTo>
                  <a:pt x="0" y="0"/>
                </a:moveTo>
                <a:lnTo>
                  <a:pt x="1531292" y="0"/>
                </a:lnTo>
                <a:lnTo>
                  <a:pt x="1531292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622220" y="5356674"/>
            <a:ext cx="1531292" cy="1508614"/>
          </a:xfrm>
          <a:custGeom>
            <a:avLst/>
            <a:gdLst/>
            <a:ahLst/>
            <a:cxnLst/>
            <a:rect r="r" b="b" t="t" l="l"/>
            <a:pathLst>
              <a:path h="1508614" w="1531292">
                <a:moveTo>
                  <a:pt x="0" y="0"/>
                </a:moveTo>
                <a:lnTo>
                  <a:pt x="1531292" y="0"/>
                </a:lnTo>
                <a:lnTo>
                  <a:pt x="153129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26574" y="2569017"/>
            <a:ext cx="11550316" cy="7291635"/>
          </a:xfrm>
          <a:custGeom>
            <a:avLst/>
            <a:gdLst/>
            <a:ahLst/>
            <a:cxnLst/>
            <a:rect r="r" b="b" t="t" l="l"/>
            <a:pathLst>
              <a:path h="7291635" w="11550316">
                <a:moveTo>
                  <a:pt x="0" y="0"/>
                </a:moveTo>
                <a:lnTo>
                  <a:pt x="11550316" y="0"/>
                </a:lnTo>
                <a:lnTo>
                  <a:pt x="11550316" y="7291635"/>
                </a:lnTo>
                <a:lnTo>
                  <a:pt x="0" y="72916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06013" y="429972"/>
            <a:ext cx="2444827" cy="170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b="true" sz="1125" spc="112">
                <a:solidFill>
                  <a:srgbClr val="D17F2A"/>
                </a:solidFill>
                <a:latin typeface="Roboto Bold"/>
                <a:ea typeface="Roboto Bold"/>
                <a:cs typeface="Roboto Bold"/>
                <a:sym typeface="Roboto Bold"/>
              </a:rPr>
              <a:t>KRANECHILE  /  RESULTADOS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24067" y="1019738"/>
            <a:ext cx="7960470" cy="787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8"/>
              </a:lnSpc>
            </a:pPr>
            <a:r>
              <a:rPr lang="en-US" sz="6008" spc="-120" b="true">
                <a:solidFill>
                  <a:srgbClr val="F4F4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Integraciones y APIs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33233" y="3396958"/>
            <a:ext cx="2305123" cy="241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0"/>
              </a:lnSpc>
            </a:pPr>
            <a:r>
              <a:rPr lang="en-US" sz="1617" b="true">
                <a:solidFill>
                  <a:srgbClr val="D17F2A"/>
                </a:solidFill>
                <a:latin typeface="Roboto Bold"/>
                <a:ea typeface="Roboto Bold"/>
                <a:cs typeface="Roboto Bold"/>
                <a:sym typeface="Roboto Bold"/>
              </a:rPr>
              <a:t>Transbank Webpay Plus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253568" y="3291532"/>
            <a:ext cx="5066666" cy="473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Procesa el pago online del abono (50%) con tarjeta de crédito/débito al confirmar una reserva.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246218" y="4029513"/>
            <a:ext cx="5801665" cy="473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Permite iniciar sesión/registrarse con la cuenta de Google del usuario, sin crear contraseña nueva.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91958" y="4827738"/>
            <a:ext cx="2187673" cy="241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0"/>
              </a:lnSpc>
            </a:pPr>
            <a:r>
              <a:rPr lang="en-US" sz="1617" b="true">
                <a:solidFill>
                  <a:srgbClr val="D17F2A"/>
                </a:solidFill>
                <a:latin typeface="Roboto Bold"/>
                <a:ea typeface="Roboto Bold"/>
                <a:cs typeface="Roboto Bold"/>
                <a:sym typeface="Roboto Bold"/>
              </a:rPr>
              <a:t>Google reCAPTCHA v2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241926" y="4722312"/>
            <a:ext cx="6230796" cy="473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Verifica que quien inicia sesión o se registra es humano, no un bot (protección anti-spam).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250764" y="5520536"/>
            <a:ext cx="5347012" cy="241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Mide tráfico y comportamiento de los visitantes del sitio.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04154" y="6032605"/>
            <a:ext cx="3868295" cy="241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0"/>
              </a:lnSpc>
            </a:pPr>
            <a:r>
              <a:rPr lang="en-US" sz="1617" b="true">
                <a:solidFill>
                  <a:srgbClr val="D17F2A"/>
                </a:solidFill>
                <a:latin typeface="Roboto Bold"/>
                <a:ea typeface="Roboto Bold"/>
                <a:cs typeface="Roboto Bold"/>
                <a:sym typeface="Roboto Bold"/>
              </a:rPr>
              <a:t>API CNE (Comisión Nacional de Energía)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241170" y="6002483"/>
            <a:ext cx="6306433" cy="473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Consulta el precio real y actualizado del diésel en Chile, usado para calcular el recargo por combustible en cada presupuesto.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246208" y="6710343"/>
            <a:ext cx="5802598" cy="473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Geocodifica la dirección de la faena (convierte el texto de la dirección en coordenadas) y da el autocompletado al escribir.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54298" y="7463385"/>
            <a:ext cx="662994" cy="241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0"/>
              </a:lnSpc>
            </a:pPr>
            <a:r>
              <a:rPr lang="en-US" sz="1617" b="true">
                <a:solidFill>
                  <a:srgbClr val="D17F2A"/>
                </a:solidFill>
                <a:latin typeface="Roboto Bold"/>
                <a:ea typeface="Roboto Bold"/>
                <a:cs typeface="Roboto Bold"/>
                <a:sym typeface="Roboto Bold"/>
              </a:rPr>
              <a:t>Leaflet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242007" y="7373020"/>
            <a:ext cx="6222704" cy="473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Librería del mapa interactivo: ubicar la faena en pantalla y mostrar el seguimiento en vivo de la grúa en terreno.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246890" y="8035697"/>
            <a:ext cx="5734432" cy="705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Envía los correos automáticos: confirmación de reserva, comprobante, asignación de operador, recuperar contraseña, solicitudes de crédito empresa.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12489" y="9069359"/>
            <a:ext cx="3146612" cy="499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740" b="true">
                <a:solidFill>
                  <a:srgbClr val="D17F2A"/>
                </a:solidFill>
                <a:latin typeface="Roboto Bold"/>
                <a:ea typeface="Roboto Bold"/>
                <a:cs typeface="Roboto Bold"/>
                <a:sym typeface="Roboto Bold"/>
              </a:rPr>
              <a:t>API REST propia (Django REST</a:t>
            </a:r>
          </a:p>
          <a:p>
            <a:pPr algn="ctr">
              <a:lnSpc>
                <a:spcPts val="2088"/>
              </a:lnSpc>
            </a:pPr>
            <a:r>
              <a:rPr lang="en-US" sz="1740" b="true">
                <a:solidFill>
                  <a:srgbClr val="D17F2A"/>
                </a:solidFill>
                <a:latin typeface="Roboto Bold"/>
                <a:ea typeface="Roboto Bold"/>
                <a:cs typeface="Roboto Bold"/>
                <a:sym typeface="Roboto Bold"/>
              </a:rPr>
              <a:t>Framework + JWT)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240194" y="8969469"/>
            <a:ext cx="6404067" cy="705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Es la API que expone este mismo backend para que la app móvil del operador (Flutter) consulte sus fuenas asignadas y reporte su </a:t>
            </a:r>
            <a:r>
              <a:rPr lang="en-US" sz="1617" b="true">
                <a:solidFill>
                  <a:srgbClr val="FFFFFF">
                    <a:alpha val="80000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ubicación/estado.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56726" y="2056543"/>
            <a:ext cx="7373516" cy="330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6"/>
              </a:lnSpc>
            </a:pPr>
            <a:r>
              <a:rPr lang="en-US" sz="2179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Conectividad externa para una operación digital completa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80966" y="9948423"/>
            <a:ext cx="3518227" cy="205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3"/>
              </a:lnSpc>
            </a:pPr>
            <a:r>
              <a:rPr lang="en-US" b="true" sz="1335" spc="133">
                <a:solidFill>
                  <a:srgbClr val="D17F2A"/>
                </a:solidFill>
                <a:latin typeface="Roboto Bold"/>
                <a:ea typeface="Roboto Bold"/>
                <a:cs typeface="Roboto Bold"/>
                <a:sym typeface="Roboto Bold"/>
              </a:rPr>
              <a:t>KRANECHILE  /  RESULTADOS  /  </a:t>
            </a:r>
            <a:r>
              <a:rPr lang="en-US" b="true" sz="1335" spc="133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07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14777" y="6785647"/>
            <a:ext cx="2742036" cy="241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0"/>
              </a:lnSpc>
            </a:pPr>
            <a:r>
              <a:rPr lang="en-US" sz="1617" b="true">
                <a:solidFill>
                  <a:srgbClr val="D17F2A"/>
                </a:solidFill>
                <a:latin typeface="Roboto Bold"/>
                <a:ea typeface="Roboto Bold"/>
                <a:cs typeface="Roboto Bold"/>
                <a:sym typeface="Roboto Bold"/>
              </a:rPr>
              <a:t>Nominatim / OpenStreetMap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08603" y="8156183"/>
            <a:ext cx="2754382" cy="241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0"/>
              </a:lnSpc>
            </a:pPr>
            <a:r>
              <a:rPr lang="en-US" sz="1617" b="true">
                <a:solidFill>
                  <a:srgbClr val="D17F2A"/>
                </a:solidFill>
                <a:latin typeface="Roboto Bold"/>
                <a:ea typeface="Roboto Bold"/>
                <a:cs typeface="Roboto Bold"/>
                <a:sym typeface="Roboto Bold"/>
              </a:rPr>
              <a:t>SMTP (correo transaccional)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71000" y="5520536"/>
            <a:ext cx="2229590" cy="241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0"/>
              </a:lnSpc>
            </a:pPr>
            <a:r>
              <a:rPr lang="en-US" sz="1617" b="true">
                <a:solidFill>
                  <a:srgbClr val="D17F2A"/>
                </a:solidFill>
                <a:latin typeface="Roboto Bold"/>
                <a:ea typeface="Roboto Bold"/>
                <a:cs typeface="Roboto Bold"/>
                <a:sym typeface="Roboto Bold"/>
              </a:rPr>
              <a:t>Google Analytics (GA4)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94656" y="4134939"/>
            <a:ext cx="2182277" cy="241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0"/>
              </a:lnSpc>
            </a:pPr>
            <a:r>
              <a:rPr lang="en-US" sz="1617" b="true">
                <a:solidFill>
                  <a:srgbClr val="D17F2A"/>
                </a:solidFill>
                <a:latin typeface="Roboto Bold"/>
                <a:ea typeface="Roboto Bold"/>
                <a:cs typeface="Roboto Bold"/>
                <a:sym typeface="Roboto Bold"/>
              </a:rPr>
              <a:t>Google OAuth (allauth)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203807" y="2788988"/>
            <a:ext cx="1163975" cy="2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740" b="true">
                <a:solidFill>
                  <a:srgbClr val="FFFFFF">
                    <a:alpha val="80000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Integración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960605" y="2788988"/>
            <a:ext cx="955365" cy="2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740" b="true">
                <a:solidFill>
                  <a:srgbClr val="FFFFFF">
                    <a:alpha val="80000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Qué hace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94799" y="0"/>
            <a:ext cx="8001000" cy="10287000"/>
          </a:xfrm>
          <a:custGeom>
            <a:avLst/>
            <a:gdLst/>
            <a:ahLst/>
            <a:cxnLst/>
            <a:rect r="r" b="b" t="t" l="l"/>
            <a:pathLst>
              <a:path h="10287000" w="8001000">
                <a:moveTo>
                  <a:pt x="0" y="0"/>
                </a:moveTo>
                <a:lnTo>
                  <a:pt x="8001000" y="0"/>
                </a:lnTo>
                <a:lnTo>
                  <a:pt x="8001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8" r="0" b="-98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8572500" y="0"/>
            <a:ext cx="4762500" cy="10287000"/>
            <a:chOff x="0" y="0"/>
            <a:chExt cx="6350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081B2C">
                    <a:alpha val="100000"/>
                  </a:srgbClr>
                </a:gs>
                <a:gs pos="62000">
                  <a:srgbClr val="1261A0">
                    <a:alpha val="100000"/>
                  </a:srgbClr>
                </a:gs>
                <a:gs pos="100000">
                  <a:srgbClr val="081B2C">
                    <a:alpha val="10000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350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52500" y="590550"/>
            <a:ext cx="5715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F28C28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KRANECHILE  /  RESULTADOS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2500" y="1857375"/>
            <a:ext cx="8382000" cy="1742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72"/>
              </a:lnSpc>
            </a:pPr>
            <a:r>
              <a:rPr lang="en-US" sz="64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Del clic a la faena.</a:t>
            </a:r>
          </a:p>
          <a:p>
            <a:pPr algn="l">
              <a:lnSpc>
                <a:spcPts val="6772"/>
              </a:lnSpc>
            </a:pPr>
            <a:r>
              <a:rPr lang="en-US" sz="64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Sin fricción.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2500" y="4391025"/>
            <a:ext cx="809625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Cotización web  →  Pago  →  Asignación  →  Operación móvil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52500" y="6191250"/>
            <a:ext cx="6667500" cy="1264920"/>
            <a:chOff x="0" y="0"/>
            <a:chExt cx="8890000" cy="168656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0"/>
              <a:ext cx="4191000" cy="12992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245"/>
                </a:lnSpc>
              </a:pPr>
              <a:r>
                <a:rPr lang="en-US" sz="69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CERO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231900"/>
              <a:ext cx="8890000" cy="4546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sobreventas con bloqueo de calendario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76654" y="8370570"/>
            <a:ext cx="7403989" cy="620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1851">
                <a:solidFill>
                  <a:srgbClr val="D9E6EE"/>
                </a:solidFill>
                <a:latin typeface="IBM Plex Sans"/>
                <a:ea typeface="IBM Plex Sans"/>
                <a:cs typeface="IBM Plex Sans"/>
                <a:sym typeface="IBM Plex Sans"/>
              </a:rPr>
              <a:t>La transformación digital completa del arriendo de maquinaria pesada en Chile.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DAHWm8X7WAY</dc:identifier>
  <dcterms:modified xsi:type="dcterms:W3CDTF">2011-08-01T06:04:30Z</dcterms:modified>
  <cp:revision>1</cp:revision>
  <dc:title>Presentación Proyecto</dc:title>
</cp:coreProperties>
</file>