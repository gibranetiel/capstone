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IBM Plex Sans Bold" charset="1" panose="020B0803050203000203"/>
      <p:regular r:id="rId20"/>
    </p:embeddedFont>
    <p:embeddedFont>
      <p:font typeface="Montserrat Bold" charset="1" panose="00000800000000000000"/>
      <p:regular r:id="rId21"/>
    </p:embeddedFont>
    <p:embeddedFont>
      <p:font typeface="IBM Plex Sans" charset="1" panose="020B0503050203000203"/>
      <p:regular r:id="rId22"/>
    </p:embeddedFont>
    <p:embeddedFont>
      <p:font typeface="Montserrat" charset="1" panose="00000500000000000000"/>
      <p:regular r:id="rId23"/>
    </p:embeddedFont>
    <p:embeddedFont>
      <p:font typeface="Roboto Bold" charset="1" panose="02000000000000000000"/>
      <p:regular r:id="rId24"/>
    </p:embeddedFont>
    <p:embeddedFont>
      <p:font typeface="Roboto" charset="1" panose="0200000000000000000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png" Type="http://schemas.openxmlformats.org/officeDocument/2006/relationships/image"/><Relationship Id="rId4" Target="../media/image11.png" Type="http://schemas.openxmlformats.org/officeDocument/2006/relationships/image"/><Relationship Id="rId5" Target="../media/image12.png" Type="http://schemas.openxmlformats.org/officeDocument/2006/relationships/image"/><Relationship Id="rId6" Target="../media/image13.png" Type="http://schemas.openxmlformats.org/officeDocument/2006/relationships/image"/><Relationship Id="rId7" Target="../media/image14.png" Type="http://schemas.openxmlformats.org/officeDocument/2006/relationships/image"/><Relationship Id="rId8" Target="../media/image15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8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572500" y="0"/>
            <a:ext cx="9715500" cy="10287000"/>
          </a:xfrm>
          <a:custGeom>
            <a:avLst/>
            <a:gdLst/>
            <a:ahLst/>
            <a:cxnLst/>
            <a:rect r="r" b="b" t="t" l="l"/>
            <a:pathLst>
              <a:path h="10287000" w="9715500">
                <a:moveTo>
                  <a:pt x="0" y="0"/>
                </a:moveTo>
                <a:lnTo>
                  <a:pt x="9715500" y="0"/>
                </a:lnTo>
                <a:lnTo>
                  <a:pt x="97155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6" r="0" b="-36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8572500" y="0"/>
            <a:ext cx="10858500" cy="10287000"/>
            <a:chOff x="0" y="0"/>
            <a:chExt cx="14478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4478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14478000">
                  <a:moveTo>
                    <a:pt x="0" y="0"/>
                  </a:moveTo>
                  <a:lnTo>
                    <a:pt x="14478000" y="0"/>
                  </a:lnTo>
                  <a:lnTo>
                    <a:pt x="14478000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true">
              <a:gsLst>
                <a:gs pos="0">
                  <a:srgbClr val="081B2C">
                    <a:alpha val="100000"/>
                  </a:srgbClr>
                </a:gs>
                <a:gs pos="62000">
                  <a:srgbClr val="1261A0">
                    <a:alpha val="100000"/>
                  </a:srgbClr>
                </a:gs>
                <a:gs pos="100000">
                  <a:srgbClr val="081B2C">
                    <a:alpha val="100000"/>
                  </a:srgbClr>
                </a:gs>
              </a:gsLst>
              <a:lin ang="16200000"/>
            </a:gra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4478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952500" y="638175"/>
            <a:ext cx="47625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spc="179" b="true">
                <a:solidFill>
                  <a:srgbClr val="F28C28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KRANECHILE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75106" y="2329975"/>
            <a:ext cx="8858250" cy="1194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35"/>
              </a:lnSpc>
            </a:pPr>
            <a:r>
              <a:rPr lang="en-US" sz="87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KraneChile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67605" y="3783639"/>
            <a:ext cx="7061895" cy="9099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57"/>
              </a:lnSpc>
            </a:pPr>
            <a:r>
              <a:rPr lang="en-US" sz="2708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Ecosistema Digital para el Arriendo, Logística y Gestión Operativa de Maquinaria Pesada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629104" y="7121050"/>
            <a:ext cx="1143000" cy="76200"/>
            <a:chOff x="0" y="0"/>
            <a:chExt cx="1524000" cy="1016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524000" cy="101600"/>
            </a:xfrm>
            <a:custGeom>
              <a:avLst/>
              <a:gdLst/>
              <a:ahLst/>
              <a:cxnLst/>
              <a:rect r="r" b="b" t="t" l="l"/>
              <a:pathLst>
                <a:path h="101600" w="1524000">
                  <a:moveTo>
                    <a:pt x="0" y="0"/>
                  </a:moveTo>
                  <a:lnTo>
                    <a:pt x="1524000" y="0"/>
                  </a:lnTo>
                  <a:lnTo>
                    <a:pt x="15240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F28C28"/>
            </a:solidFill>
            <a:ln cap="sq">
              <a:noFill/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524000" cy="13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629104" y="7581900"/>
            <a:ext cx="7620000" cy="853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spc="198" b="true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PLATAFORMA WEB (DJANGO)  +  APP MÓVIL (FLUTTER)</a:t>
            </a:r>
          </a:p>
          <a:p>
            <a:pPr algn="l">
              <a:lnSpc>
                <a:spcPts val="2310"/>
              </a:lnSpc>
            </a:pPr>
          </a:p>
          <a:p>
            <a:pPr algn="l">
              <a:lnSpc>
                <a:spcPts val="2310"/>
              </a:lnSpc>
            </a:pPr>
            <a:r>
              <a:rPr lang="en-US" sz="1650" spc="198" b="true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Integrantes:Gibran Beiza – Jordan Vergara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8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428625"/>
            <a:ext cx="49530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F28C28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KRANECHILE  /  02</a:t>
            </a:r>
          </a:p>
        </p:txBody>
      </p:sp>
      <p:sp>
        <p:nvSpPr>
          <p:cNvPr name="AutoShape 3" id="3"/>
          <p:cNvSpPr/>
          <p:nvPr/>
        </p:nvSpPr>
        <p:spPr>
          <a:xfrm>
            <a:off x="952500" y="838200"/>
            <a:ext cx="16383000" cy="0"/>
          </a:xfrm>
          <a:prstGeom prst="line">
            <a:avLst/>
          </a:prstGeom>
          <a:ln cap="flat" w="19050">
            <a:solidFill>
              <a:srgbClr val="24425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" id="4"/>
          <p:cNvSpPr txBox="true"/>
          <p:nvPr/>
        </p:nvSpPr>
        <p:spPr>
          <a:xfrm rot="0">
            <a:off x="15811500" y="9620250"/>
            <a:ext cx="1524000" cy="196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0"/>
              </a:lnSpc>
            </a:pPr>
            <a:r>
              <a:rPr lang="en-US" sz="1200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02  /  12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52500" y="1362075"/>
            <a:ext cx="8096250" cy="1929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8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¿Cómo se arrienda hoy una grúa de 25 toneladas?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500" y="3648075"/>
            <a:ext cx="3429000" cy="1150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20"/>
              </a:lnSpc>
            </a:pPr>
            <a:r>
              <a:rPr lang="en-US" sz="8400" b="true">
                <a:solidFill>
                  <a:srgbClr val="F28C2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&gt;90%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52500" y="4724400"/>
            <a:ext cx="6667500" cy="702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de las empresas solo ofrece contacto por WhatsApp o teléfono.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52500" y="6172200"/>
            <a:ext cx="7524750" cy="297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31"/>
              </a:lnSpc>
            </a:pPr>
            <a:r>
              <a:rPr lang="en-US" sz="1875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1  Horas de espera para cotizar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52500" y="6819900"/>
            <a:ext cx="7524750" cy="297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31"/>
              </a:lnSpc>
            </a:pPr>
            <a:r>
              <a:rPr lang="en-US" sz="1875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2  Tarifas arbitrarias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52500" y="7467600"/>
            <a:ext cx="7524750" cy="297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31"/>
              </a:lnSpc>
            </a:pPr>
            <a:r>
              <a:rPr lang="en-US" sz="1875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3  Sobreventa por planillas manuales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52500" y="8115300"/>
            <a:ext cx="7524750" cy="297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31"/>
              </a:lnSpc>
            </a:pPr>
            <a:r>
              <a:rPr lang="en-US" sz="1875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4  Guías de papel desactualizadas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10001250" y="1428750"/>
            <a:ext cx="7334250" cy="7524750"/>
          </a:xfrm>
          <a:custGeom>
            <a:avLst/>
            <a:gdLst/>
            <a:ahLst/>
            <a:cxnLst/>
            <a:rect r="r" b="b" t="t" l="l"/>
            <a:pathLst>
              <a:path h="7524750" w="7334250">
                <a:moveTo>
                  <a:pt x="0" y="0"/>
                </a:moveTo>
                <a:lnTo>
                  <a:pt x="7334250" y="0"/>
                </a:lnTo>
                <a:lnTo>
                  <a:pt x="7334250" y="7524750"/>
                </a:lnTo>
                <a:lnTo>
                  <a:pt x="0" y="7524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47" r="0" b="-47"/>
            </a:stretch>
          </a:blipFill>
          <a:ln cap="sq">
            <a:noFill/>
            <a:prstDash val="solid"/>
            <a:miter/>
          </a:ln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08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428625"/>
            <a:ext cx="49530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F28C28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KRANECHILE  /  03</a:t>
            </a:r>
          </a:p>
        </p:txBody>
      </p:sp>
      <p:sp>
        <p:nvSpPr>
          <p:cNvPr name="AutoShape 3" id="3"/>
          <p:cNvSpPr/>
          <p:nvPr/>
        </p:nvSpPr>
        <p:spPr>
          <a:xfrm>
            <a:off x="952500" y="838200"/>
            <a:ext cx="16383000" cy="0"/>
          </a:xfrm>
          <a:prstGeom prst="line">
            <a:avLst/>
          </a:prstGeom>
          <a:ln cap="flat" w="19050">
            <a:solidFill>
              <a:srgbClr val="24425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" id="4"/>
          <p:cNvSpPr txBox="true"/>
          <p:nvPr/>
        </p:nvSpPr>
        <p:spPr>
          <a:xfrm rot="0">
            <a:off x="15811500" y="9620250"/>
            <a:ext cx="1524000" cy="196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0"/>
              </a:lnSpc>
            </a:pPr>
            <a:r>
              <a:rPr lang="en-US" sz="1200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03  /  12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52500" y="1314450"/>
            <a:ext cx="10477500" cy="6643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18"/>
              </a:lnSpc>
            </a:pPr>
            <a:r>
              <a:rPr lang="en-US" sz="4875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Rompe el estándar del mercado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500" y="2152650"/>
            <a:ext cx="9334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Cuatro capacidades integradas. Una operación sin fricción.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52500" y="3429000"/>
            <a:ext cx="3762375" cy="4476750"/>
            <a:chOff x="0" y="0"/>
            <a:chExt cx="5016500" cy="5969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016500" cy="5969000"/>
            </a:xfrm>
            <a:custGeom>
              <a:avLst/>
              <a:gdLst/>
              <a:ahLst/>
              <a:cxnLst/>
              <a:rect r="r" b="b" t="t" l="l"/>
              <a:pathLst>
                <a:path h="5969000" w="5016500">
                  <a:moveTo>
                    <a:pt x="0" y="0"/>
                  </a:moveTo>
                  <a:lnTo>
                    <a:pt x="5016500" y="0"/>
                  </a:lnTo>
                  <a:lnTo>
                    <a:pt x="5016500" y="5969000"/>
                  </a:lnTo>
                  <a:lnTo>
                    <a:pt x="0" y="5969000"/>
                  </a:lnTo>
                  <a:close/>
                </a:path>
              </a:pathLst>
            </a:custGeom>
            <a:solidFill>
              <a:srgbClr val="1261A0"/>
            </a:solidFill>
            <a:ln w="19050" cap="sq">
              <a:solidFill>
                <a:srgbClr val="244258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016500" cy="600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5143500" y="3429000"/>
            <a:ext cx="3762375" cy="4476750"/>
            <a:chOff x="0" y="0"/>
            <a:chExt cx="5016500" cy="5969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016500" cy="5969000"/>
            </a:xfrm>
            <a:custGeom>
              <a:avLst/>
              <a:gdLst/>
              <a:ahLst/>
              <a:cxnLst/>
              <a:rect r="r" b="b" t="t" l="l"/>
              <a:pathLst>
                <a:path h="5969000" w="5016500">
                  <a:moveTo>
                    <a:pt x="0" y="0"/>
                  </a:moveTo>
                  <a:lnTo>
                    <a:pt x="5016500" y="0"/>
                  </a:lnTo>
                  <a:lnTo>
                    <a:pt x="5016500" y="5969000"/>
                  </a:lnTo>
                  <a:lnTo>
                    <a:pt x="0" y="5969000"/>
                  </a:lnTo>
                  <a:close/>
                </a:path>
              </a:pathLst>
            </a:custGeom>
            <a:solidFill>
              <a:srgbClr val="1261A0"/>
            </a:solidFill>
            <a:ln w="19050" cap="sq">
              <a:solidFill>
                <a:srgbClr val="244258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016500" cy="600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334500" y="3429000"/>
            <a:ext cx="3762375" cy="4476750"/>
            <a:chOff x="0" y="0"/>
            <a:chExt cx="5016500" cy="5969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016500" cy="5969000"/>
            </a:xfrm>
            <a:custGeom>
              <a:avLst/>
              <a:gdLst/>
              <a:ahLst/>
              <a:cxnLst/>
              <a:rect r="r" b="b" t="t" l="l"/>
              <a:pathLst>
                <a:path h="5969000" w="5016500">
                  <a:moveTo>
                    <a:pt x="0" y="0"/>
                  </a:moveTo>
                  <a:lnTo>
                    <a:pt x="5016500" y="0"/>
                  </a:lnTo>
                  <a:lnTo>
                    <a:pt x="5016500" y="5969000"/>
                  </a:lnTo>
                  <a:lnTo>
                    <a:pt x="0" y="5969000"/>
                  </a:lnTo>
                  <a:close/>
                </a:path>
              </a:pathLst>
            </a:custGeom>
            <a:solidFill>
              <a:srgbClr val="F28C28"/>
            </a:solidFill>
            <a:ln w="19050" cap="sq">
              <a:solidFill>
                <a:srgbClr val="244258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016500" cy="600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3525500" y="3429000"/>
            <a:ext cx="3762375" cy="4476750"/>
            <a:chOff x="0" y="0"/>
            <a:chExt cx="5016500" cy="5969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016500" cy="5969000"/>
            </a:xfrm>
            <a:custGeom>
              <a:avLst/>
              <a:gdLst/>
              <a:ahLst/>
              <a:cxnLst/>
              <a:rect r="r" b="b" t="t" l="l"/>
              <a:pathLst>
                <a:path h="5969000" w="5016500">
                  <a:moveTo>
                    <a:pt x="0" y="0"/>
                  </a:moveTo>
                  <a:lnTo>
                    <a:pt x="5016500" y="0"/>
                  </a:lnTo>
                  <a:lnTo>
                    <a:pt x="5016500" y="5969000"/>
                  </a:lnTo>
                  <a:lnTo>
                    <a:pt x="0" y="5969000"/>
                  </a:lnTo>
                  <a:close/>
                </a:path>
              </a:pathLst>
            </a:custGeom>
            <a:solidFill>
              <a:srgbClr val="1261A0"/>
            </a:solidFill>
            <a:ln w="19050" cap="sq">
              <a:solidFill>
                <a:srgbClr val="244258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5016500" cy="600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285875" y="3952875"/>
            <a:ext cx="3095625" cy="2123599"/>
            <a:chOff x="0" y="0"/>
            <a:chExt cx="4127500" cy="2831465"/>
          </a:xfrm>
        </p:grpSpPr>
        <p:sp>
          <p:nvSpPr>
            <p:cNvPr name="TextBox 20" id="20"/>
            <p:cNvSpPr txBox="true"/>
            <p:nvPr/>
          </p:nvSpPr>
          <p:spPr>
            <a:xfrm rot="0">
              <a:off x="0" y="76200"/>
              <a:ext cx="4127500" cy="101346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70"/>
                </a:lnSpc>
              </a:pPr>
              <a:r>
                <a:rPr lang="en-US" sz="5400" b="true">
                  <a:solidFill>
                    <a:srgbClr val="F28C28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50%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0" y="1930400"/>
              <a:ext cx="4127500" cy="9010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33"/>
                </a:lnSpc>
              </a:pPr>
              <a:r>
                <a:rPr lang="en-US" sz="2025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Abono Webpay</a:t>
              </a:r>
            </a:p>
            <a:p>
              <a:pPr algn="l">
                <a:lnSpc>
                  <a:spcPts val="2733"/>
                </a:lnSpc>
              </a:pPr>
              <a:r>
                <a:rPr lang="en-US" sz="2025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confirmación inmediata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5476875" y="3952875"/>
            <a:ext cx="3095625" cy="2123599"/>
            <a:chOff x="0" y="0"/>
            <a:chExt cx="4127500" cy="2831465"/>
          </a:xfrm>
        </p:grpSpPr>
        <p:sp>
          <p:nvSpPr>
            <p:cNvPr name="TextBox 23" id="23"/>
            <p:cNvSpPr txBox="true"/>
            <p:nvPr/>
          </p:nvSpPr>
          <p:spPr>
            <a:xfrm rot="0">
              <a:off x="0" y="76200"/>
              <a:ext cx="4127500" cy="101346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70"/>
                </a:lnSpc>
              </a:pPr>
              <a:r>
                <a:rPr lang="en-US" sz="5400" b="true">
                  <a:solidFill>
                    <a:srgbClr val="F28C28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15 min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0" y="1930400"/>
              <a:ext cx="4127500" cy="9010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33"/>
                </a:lnSpc>
              </a:pPr>
              <a:r>
                <a:rPr lang="en-US" sz="2025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Liberación automática</a:t>
              </a:r>
            </a:p>
            <a:p>
              <a:pPr algn="l">
                <a:lnSpc>
                  <a:spcPts val="2733"/>
                </a:lnSpc>
              </a:pPr>
              <a:r>
                <a:rPr lang="en-US" sz="2025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de órdenes impagas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9667875" y="3952875"/>
            <a:ext cx="3095625" cy="2123599"/>
            <a:chOff x="0" y="0"/>
            <a:chExt cx="4127500" cy="2831465"/>
          </a:xfrm>
        </p:grpSpPr>
        <p:sp>
          <p:nvSpPr>
            <p:cNvPr name="TextBox 26" id="26"/>
            <p:cNvSpPr txBox="true"/>
            <p:nvPr/>
          </p:nvSpPr>
          <p:spPr>
            <a:xfrm rot="0">
              <a:off x="0" y="76200"/>
              <a:ext cx="4127500" cy="101346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70"/>
                </a:lnSpc>
              </a:pPr>
              <a:r>
                <a:rPr lang="en-US" sz="5400" b="true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GPS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0" y="1930400"/>
              <a:ext cx="4127500" cy="9010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33"/>
                </a:lnSpc>
              </a:pPr>
              <a:r>
                <a:rPr lang="en-US" sz="2025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Tracking en vivo</a:t>
              </a:r>
            </a:p>
            <a:p>
              <a:pPr algn="l">
                <a:lnSpc>
                  <a:spcPts val="2733"/>
                </a:lnSpc>
              </a:pPr>
              <a:r>
                <a:rPr lang="en-US" sz="2025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con link al cliente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3858875" y="3952875"/>
            <a:ext cx="3095625" cy="2123599"/>
            <a:chOff x="0" y="0"/>
            <a:chExt cx="4127500" cy="2831465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76200"/>
              <a:ext cx="4127500" cy="101346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70"/>
                </a:lnSpc>
              </a:pPr>
              <a:r>
                <a:rPr lang="en-US" sz="5400" b="true">
                  <a:solidFill>
                    <a:srgbClr val="F28C28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30 días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930400"/>
              <a:ext cx="4127500" cy="9010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33"/>
                </a:lnSpc>
              </a:pPr>
              <a:r>
                <a:rPr lang="en-US" sz="2025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Crédito B2B</a:t>
              </a:r>
            </a:p>
            <a:p>
              <a:pPr algn="l">
                <a:lnSpc>
                  <a:spcPts val="2733"/>
                </a:lnSpc>
              </a:pPr>
              <a:r>
                <a:rPr lang="en-US" sz="2025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para empresas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8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428625"/>
            <a:ext cx="49530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F28C28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KRANECHILE  /  04</a:t>
            </a:r>
          </a:p>
        </p:txBody>
      </p:sp>
      <p:sp>
        <p:nvSpPr>
          <p:cNvPr name="AutoShape 3" id="3"/>
          <p:cNvSpPr/>
          <p:nvPr/>
        </p:nvSpPr>
        <p:spPr>
          <a:xfrm>
            <a:off x="952500" y="838200"/>
            <a:ext cx="16383000" cy="0"/>
          </a:xfrm>
          <a:prstGeom prst="line">
            <a:avLst/>
          </a:prstGeom>
          <a:ln cap="flat" w="19050">
            <a:solidFill>
              <a:srgbClr val="24425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" id="4"/>
          <p:cNvSpPr txBox="true"/>
          <p:nvPr/>
        </p:nvSpPr>
        <p:spPr>
          <a:xfrm rot="0">
            <a:off x="15811500" y="9620250"/>
            <a:ext cx="1524000" cy="196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0"/>
              </a:lnSpc>
            </a:pPr>
            <a:r>
              <a:rPr lang="en-US" sz="1200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04  /  12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52500" y="1295400"/>
            <a:ext cx="10001250" cy="575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10"/>
              </a:lnSpc>
            </a:pPr>
            <a:r>
              <a:rPr lang="en-US" sz="42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Catálogo inteligente. Reglas claras.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500" y="2162175"/>
            <a:ext cx="11906250" cy="3248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2"/>
              </a:lnSpc>
            </a:pPr>
            <a:r>
              <a:rPr lang="en-US" sz="1950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Horquillas 3–25 ton · Camiones pluma · Grúas telescópicas · Accesorios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952500" y="3143250"/>
            <a:ext cx="8096250" cy="5810250"/>
          </a:xfrm>
          <a:custGeom>
            <a:avLst/>
            <a:gdLst/>
            <a:ahLst/>
            <a:cxnLst/>
            <a:rect r="r" b="b" t="t" l="l"/>
            <a:pathLst>
              <a:path h="5810250" w="8096250">
                <a:moveTo>
                  <a:pt x="0" y="0"/>
                </a:moveTo>
                <a:lnTo>
                  <a:pt x="8096250" y="0"/>
                </a:lnTo>
                <a:lnTo>
                  <a:pt x="8096250" y="5810250"/>
                </a:lnTo>
                <a:lnTo>
                  <a:pt x="0" y="58102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" t="0" r="-1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8" id="8"/>
          <p:cNvGrpSpPr/>
          <p:nvPr/>
        </p:nvGrpSpPr>
        <p:grpSpPr>
          <a:xfrm rot="0">
            <a:off x="9525000" y="3143250"/>
            <a:ext cx="6858000" cy="1143000"/>
            <a:chOff x="0" y="0"/>
            <a:chExt cx="9144000" cy="1524000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0" y="0"/>
              <a:ext cx="9144000" cy="1524000"/>
              <a:chOff x="0" y="0"/>
              <a:chExt cx="9144000" cy="15240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9144000" cy="1524000"/>
              </a:xfrm>
              <a:custGeom>
                <a:avLst/>
                <a:gdLst/>
                <a:ahLst/>
                <a:cxnLst/>
                <a:rect r="r" b="b" t="t" l="l"/>
                <a:pathLst>
                  <a:path h="1524000" w="9144000">
                    <a:moveTo>
                      <a:pt x="0" y="0"/>
                    </a:moveTo>
                    <a:lnTo>
                      <a:pt x="9144000" y="0"/>
                    </a:lnTo>
                    <a:lnTo>
                      <a:pt x="9144000" y="1524000"/>
                    </a:lnTo>
                    <a:lnTo>
                      <a:pt x="0" y="1524000"/>
                    </a:lnTo>
                    <a:close/>
                  </a:path>
                </a:pathLst>
              </a:custGeom>
              <a:solidFill>
                <a:srgbClr val="1261A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9144000" cy="156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12" id="12"/>
            <p:cNvSpPr txBox="true"/>
            <p:nvPr/>
          </p:nvSpPr>
          <p:spPr>
            <a:xfrm rot="0">
              <a:off x="381000" y="184150"/>
              <a:ext cx="3175000" cy="7277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095"/>
                </a:lnSpc>
              </a:pPr>
              <a:r>
                <a:rPr lang="en-US" sz="3900" b="true">
                  <a:solidFill>
                    <a:srgbClr val="F28C28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6 h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381000" y="860425"/>
              <a:ext cx="8255000" cy="3892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430"/>
                </a:lnSpc>
              </a:pPr>
              <a:r>
                <a:rPr lang="en-US" sz="18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mínimo obligatorio por jornada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9525000" y="4524375"/>
            <a:ext cx="6858000" cy="1143000"/>
            <a:chOff x="0" y="0"/>
            <a:chExt cx="9144000" cy="1524000"/>
          </a:xfrm>
        </p:grpSpPr>
        <p:grpSp>
          <p:nvGrpSpPr>
            <p:cNvPr name="Group 15" id="15"/>
            <p:cNvGrpSpPr/>
            <p:nvPr/>
          </p:nvGrpSpPr>
          <p:grpSpPr>
            <a:xfrm rot="0">
              <a:off x="0" y="0"/>
              <a:ext cx="9144000" cy="1524000"/>
              <a:chOff x="0" y="0"/>
              <a:chExt cx="9144000" cy="15240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9144000" cy="1524000"/>
              </a:xfrm>
              <a:custGeom>
                <a:avLst/>
                <a:gdLst/>
                <a:ahLst/>
                <a:cxnLst/>
                <a:rect r="r" b="b" t="t" l="l"/>
                <a:pathLst>
                  <a:path h="1524000" w="9144000">
                    <a:moveTo>
                      <a:pt x="0" y="0"/>
                    </a:moveTo>
                    <a:lnTo>
                      <a:pt x="9144000" y="0"/>
                    </a:lnTo>
                    <a:lnTo>
                      <a:pt x="9144000" y="1524000"/>
                    </a:lnTo>
                    <a:lnTo>
                      <a:pt x="0" y="1524000"/>
                    </a:lnTo>
                    <a:close/>
                  </a:path>
                </a:pathLst>
              </a:custGeom>
              <a:solidFill>
                <a:srgbClr val="1261A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38100"/>
                <a:ext cx="9144000" cy="156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18" id="18"/>
            <p:cNvSpPr txBox="true"/>
            <p:nvPr/>
          </p:nvSpPr>
          <p:spPr>
            <a:xfrm rot="0">
              <a:off x="381000" y="184150"/>
              <a:ext cx="3175000" cy="7277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095"/>
                </a:lnSpc>
              </a:pPr>
              <a:r>
                <a:rPr lang="en-US" sz="3900" b="true">
                  <a:solidFill>
                    <a:srgbClr val="F28C28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+50%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381000" y="860425"/>
              <a:ext cx="8255000" cy="3892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430"/>
                </a:lnSpc>
              </a:pPr>
              <a:r>
                <a:rPr lang="en-US" sz="18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recargo nocturno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9525000" y="5905500"/>
            <a:ext cx="6858000" cy="1143000"/>
            <a:chOff x="0" y="0"/>
            <a:chExt cx="9144000" cy="1524000"/>
          </a:xfrm>
        </p:grpSpPr>
        <p:grpSp>
          <p:nvGrpSpPr>
            <p:cNvPr name="Group 21" id="21"/>
            <p:cNvGrpSpPr/>
            <p:nvPr/>
          </p:nvGrpSpPr>
          <p:grpSpPr>
            <a:xfrm rot="0">
              <a:off x="0" y="0"/>
              <a:ext cx="9144000" cy="1524000"/>
              <a:chOff x="0" y="0"/>
              <a:chExt cx="9144000" cy="152400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9144000" cy="1524000"/>
              </a:xfrm>
              <a:custGeom>
                <a:avLst/>
                <a:gdLst/>
                <a:ahLst/>
                <a:cxnLst/>
                <a:rect r="r" b="b" t="t" l="l"/>
                <a:pathLst>
                  <a:path h="1524000" w="9144000">
                    <a:moveTo>
                      <a:pt x="0" y="0"/>
                    </a:moveTo>
                    <a:lnTo>
                      <a:pt x="9144000" y="0"/>
                    </a:lnTo>
                    <a:lnTo>
                      <a:pt x="9144000" y="1524000"/>
                    </a:lnTo>
                    <a:lnTo>
                      <a:pt x="0" y="1524000"/>
                    </a:lnTo>
                    <a:close/>
                  </a:path>
                </a:pathLst>
              </a:custGeom>
              <a:solidFill>
                <a:srgbClr val="1261A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0" y="-38100"/>
                <a:ext cx="9144000" cy="156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4" id="24"/>
            <p:cNvSpPr txBox="true"/>
            <p:nvPr/>
          </p:nvSpPr>
          <p:spPr>
            <a:xfrm rot="0">
              <a:off x="381000" y="184150"/>
              <a:ext cx="3175000" cy="7277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095"/>
                </a:lnSpc>
              </a:pPr>
              <a:r>
                <a:rPr lang="en-US" sz="3900" b="true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+40/50%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381000" y="860425"/>
              <a:ext cx="8255000" cy="3892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430"/>
                </a:lnSpc>
              </a:pPr>
              <a:r>
                <a:rPr lang="en-US" sz="18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fin de semana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525000" y="7286625"/>
            <a:ext cx="6858000" cy="1143000"/>
            <a:chOff x="0" y="0"/>
            <a:chExt cx="9144000" cy="1524000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0" y="0"/>
              <a:ext cx="9144000" cy="1524000"/>
              <a:chOff x="0" y="0"/>
              <a:chExt cx="9144000" cy="152400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9144000" cy="1524000"/>
              </a:xfrm>
              <a:custGeom>
                <a:avLst/>
                <a:gdLst/>
                <a:ahLst/>
                <a:cxnLst/>
                <a:rect r="r" b="b" t="t" l="l"/>
                <a:pathLst>
                  <a:path h="1524000" w="9144000">
                    <a:moveTo>
                      <a:pt x="0" y="0"/>
                    </a:moveTo>
                    <a:lnTo>
                      <a:pt x="9144000" y="0"/>
                    </a:lnTo>
                    <a:lnTo>
                      <a:pt x="9144000" y="1524000"/>
                    </a:lnTo>
                    <a:lnTo>
                      <a:pt x="0" y="1524000"/>
                    </a:lnTo>
                    <a:close/>
                  </a:path>
                </a:pathLst>
              </a:custGeom>
              <a:solidFill>
                <a:srgbClr val="1261A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0" y="-38100"/>
                <a:ext cx="9144000" cy="156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30" id="30"/>
            <p:cNvSpPr txBox="true"/>
            <p:nvPr/>
          </p:nvSpPr>
          <p:spPr>
            <a:xfrm rot="0">
              <a:off x="381000" y="184150"/>
              <a:ext cx="3175000" cy="7277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095"/>
                </a:lnSpc>
              </a:pPr>
              <a:r>
                <a:rPr lang="en-US" sz="3900" b="true">
                  <a:solidFill>
                    <a:srgbClr val="F28C28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00–24 h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381000" y="860425"/>
              <a:ext cx="8255000" cy="3892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430"/>
                </a:lnSpc>
              </a:pPr>
              <a:r>
                <a:rPr lang="en-US" sz="18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bloqueo preventivo traslado + inspección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08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428625"/>
            <a:ext cx="49530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F28C28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KRANECHILE  /  05</a:t>
            </a:r>
          </a:p>
        </p:txBody>
      </p:sp>
      <p:sp>
        <p:nvSpPr>
          <p:cNvPr name="AutoShape 3" id="3"/>
          <p:cNvSpPr/>
          <p:nvPr/>
        </p:nvSpPr>
        <p:spPr>
          <a:xfrm>
            <a:off x="952500" y="838200"/>
            <a:ext cx="16383000" cy="0"/>
          </a:xfrm>
          <a:prstGeom prst="line">
            <a:avLst/>
          </a:prstGeom>
          <a:ln cap="flat" w="19050">
            <a:solidFill>
              <a:srgbClr val="24425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" id="4"/>
          <p:cNvSpPr txBox="true"/>
          <p:nvPr/>
        </p:nvSpPr>
        <p:spPr>
          <a:xfrm rot="0">
            <a:off x="15811500" y="9620250"/>
            <a:ext cx="1524000" cy="196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0"/>
              </a:lnSpc>
            </a:pPr>
            <a:r>
              <a:rPr lang="en-US" sz="1200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05  /  12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52500" y="1390650"/>
            <a:ext cx="12382500" cy="5205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16"/>
              </a:lnSpc>
            </a:pPr>
            <a:r>
              <a:rPr lang="en-US" sz="3825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Adaptado al flujo financiero de las constructoras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500" y="2305050"/>
            <a:ext cx="8572500" cy="366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2250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Crédito a 30 días sin frenar la operación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238250" y="4762500"/>
            <a:ext cx="3143250" cy="1619250"/>
            <a:chOff x="0" y="0"/>
            <a:chExt cx="4191000" cy="2159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191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4191000">
                  <a:moveTo>
                    <a:pt x="61576" y="0"/>
                  </a:moveTo>
                  <a:lnTo>
                    <a:pt x="4129424" y="0"/>
                  </a:lnTo>
                  <a:cubicBezTo>
                    <a:pt x="4163432" y="0"/>
                    <a:pt x="4191000" y="27568"/>
                    <a:pt x="4191000" y="61576"/>
                  </a:cubicBezTo>
                  <a:lnTo>
                    <a:pt x="4191000" y="2097424"/>
                  </a:lnTo>
                  <a:cubicBezTo>
                    <a:pt x="4191000" y="2131432"/>
                    <a:pt x="4163432" y="2159000"/>
                    <a:pt x="4129424" y="2159000"/>
                  </a:cubicBezTo>
                  <a:lnTo>
                    <a:pt x="61576" y="2159000"/>
                  </a:lnTo>
                  <a:cubicBezTo>
                    <a:pt x="27568" y="2159000"/>
                    <a:pt x="0" y="2131432"/>
                    <a:pt x="0" y="2097424"/>
                  </a:cubicBezTo>
                  <a:lnTo>
                    <a:pt x="0" y="61576"/>
                  </a:lnTo>
                  <a:cubicBezTo>
                    <a:pt x="0" y="27568"/>
                    <a:pt x="27568" y="0"/>
                    <a:pt x="61576" y="0"/>
                  </a:cubicBezTo>
                  <a:close/>
                </a:path>
              </a:pathLst>
            </a:custGeom>
            <a:solidFill>
              <a:srgbClr val="F28C28"/>
            </a:soli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9525"/>
              <a:ext cx="4191000" cy="21494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Registro corporativo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RUT + razón social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>
            <a:off x="4476750" y="5572125"/>
            <a:ext cx="857250" cy="0"/>
          </a:xfrm>
          <a:prstGeom prst="line">
            <a:avLst/>
          </a:prstGeom>
          <a:ln cap="rnd" w="47625">
            <a:solidFill>
              <a:srgbClr val="F28C2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1" id="11"/>
          <p:cNvGrpSpPr/>
          <p:nvPr/>
        </p:nvGrpSpPr>
        <p:grpSpPr>
          <a:xfrm rot="0">
            <a:off x="5429250" y="4762500"/>
            <a:ext cx="3143250" cy="1619250"/>
            <a:chOff x="0" y="0"/>
            <a:chExt cx="4191000" cy="2159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191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4191000">
                  <a:moveTo>
                    <a:pt x="61576" y="0"/>
                  </a:moveTo>
                  <a:lnTo>
                    <a:pt x="4129424" y="0"/>
                  </a:lnTo>
                  <a:cubicBezTo>
                    <a:pt x="4163432" y="0"/>
                    <a:pt x="4191000" y="27568"/>
                    <a:pt x="4191000" y="61576"/>
                  </a:cubicBezTo>
                  <a:lnTo>
                    <a:pt x="4191000" y="2097424"/>
                  </a:lnTo>
                  <a:cubicBezTo>
                    <a:pt x="4191000" y="2131432"/>
                    <a:pt x="4163432" y="2159000"/>
                    <a:pt x="4129424" y="2159000"/>
                  </a:cubicBezTo>
                  <a:lnTo>
                    <a:pt x="61576" y="2159000"/>
                  </a:lnTo>
                  <a:cubicBezTo>
                    <a:pt x="27568" y="2159000"/>
                    <a:pt x="0" y="2131432"/>
                    <a:pt x="0" y="2097424"/>
                  </a:cubicBezTo>
                  <a:lnTo>
                    <a:pt x="0" y="61576"/>
                  </a:lnTo>
                  <a:cubicBezTo>
                    <a:pt x="0" y="27568"/>
                    <a:pt x="27568" y="0"/>
                    <a:pt x="61576" y="0"/>
                  </a:cubicBezTo>
                  <a:close/>
                </a:path>
              </a:pathLst>
            </a:custGeom>
            <a:solidFill>
              <a:srgbClr val="F28C28"/>
            </a:soli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9525"/>
              <a:ext cx="4191000" cy="21494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Aprobación de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línea de crédito</a:t>
              </a:r>
            </a:p>
          </p:txBody>
        </p:sp>
      </p:grpSp>
      <p:sp>
        <p:nvSpPr>
          <p:cNvPr name="AutoShape 14" id="14"/>
          <p:cNvSpPr/>
          <p:nvPr/>
        </p:nvSpPr>
        <p:spPr>
          <a:xfrm>
            <a:off x="8667750" y="5572125"/>
            <a:ext cx="857250" cy="0"/>
          </a:xfrm>
          <a:prstGeom prst="line">
            <a:avLst/>
          </a:prstGeom>
          <a:ln cap="rnd" w="47625">
            <a:solidFill>
              <a:srgbClr val="F28C2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5" id="15"/>
          <p:cNvGrpSpPr/>
          <p:nvPr/>
        </p:nvGrpSpPr>
        <p:grpSpPr>
          <a:xfrm rot="0">
            <a:off x="9620250" y="4762500"/>
            <a:ext cx="3143250" cy="1619250"/>
            <a:chOff x="0" y="0"/>
            <a:chExt cx="4191000" cy="2159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191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4191000">
                  <a:moveTo>
                    <a:pt x="61576" y="0"/>
                  </a:moveTo>
                  <a:lnTo>
                    <a:pt x="4129424" y="0"/>
                  </a:lnTo>
                  <a:cubicBezTo>
                    <a:pt x="4163432" y="0"/>
                    <a:pt x="4191000" y="27568"/>
                    <a:pt x="4191000" y="61576"/>
                  </a:cubicBezTo>
                  <a:lnTo>
                    <a:pt x="4191000" y="2097424"/>
                  </a:lnTo>
                  <a:cubicBezTo>
                    <a:pt x="4191000" y="2131432"/>
                    <a:pt x="4163432" y="2159000"/>
                    <a:pt x="4129424" y="2159000"/>
                  </a:cubicBezTo>
                  <a:lnTo>
                    <a:pt x="61576" y="2159000"/>
                  </a:lnTo>
                  <a:cubicBezTo>
                    <a:pt x="27568" y="2159000"/>
                    <a:pt x="0" y="2131432"/>
                    <a:pt x="0" y="2097424"/>
                  </a:cubicBezTo>
                  <a:lnTo>
                    <a:pt x="0" y="61576"/>
                  </a:lnTo>
                  <a:cubicBezTo>
                    <a:pt x="0" y="27568"/>
                    <a:pt x="27568" y="0"/>
                    <a:pt x="61576" y="0"/>
                  </a:cubicBezTo>
                  <a:close/>
                </a:path>
              </a:pathLst>
            </a:custGeom>
            <a:solidFill>
              <a:srgbClr val="F28C28"/>
            </a:solidFill>
            <a:ln cap="sq">
              <a:noFill/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9525"/>
              <a:ext cx="4191000" cy="21494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Arriendo sin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pago inmediato</a:t>
              </a:r>
            </a:p>
          </p:txBody>
        </p:sp>
      </p:grpSp>
      <p:sp>
        <p:nvSpPr>
          <p:cNvPr name="AutoShape 18" id="18"/>
          <p:cNvSpPr/>
          <p:nvPr/>
        </p:nvSpPr>
        <p:spPr>
          <a:xfrm>
            <a:off x="12858750" y="5572125"/>
            <a:ext cx="857250" cy="0"/>
          </a:xfrm>
          <a:prstGeom prst="line">
            <a:avLst/>
          </a:prstGeom>
          <a:ln cap="rnd" w="47625">
            <a:solidFill>
              <a:srgbClr val="F28C2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9" id="19"/>
          <p:cNvGrpSpPr/>
          <p:nvPr/>
        </p:nvGrpSpPr>
        <p:grpSpPr>
          <a:xfrm rot="0">
            <a:off x="13811250" y="4762500"/>
            <a:ext cx="3143250" cy="1619250"/>
            <a:chOff x="0" y="0"/>
            <a:chExt cx="4191000" cy="2159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191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4191000">
                  <a:moveTo>
                    <a:pt x="61576" y="0"/>
                  </a:moveTo>
                  <a:lnTo>
                    <a:pt x="4129424" y="0"/>
                  </a:lnTo>
                  <a:cubicBezTo>
                    <a:pt x="4163432" y="0"/>
                    <a:pt x="4191000" y="27568"/>
                    <a:pt x="4191000" y="61576"/>
                  </a:cubicBezTo>
                  <a:lnTo>
                    <a:pt x="4191000" y="2097424"/>
                  </a:lnTo>
                  <a:cubicBezTo>
                    <a:pt x="4191000" y="2131432"/>
                    <a:pt x="4163432" y="2159000"/>
                    <a:pt x="4129424" y="2159000"/>
                  </a:cubicBezTo>
                  <a:lnTo>
                    <a:pt x="61576" y="2159000"/>
                  </a:lnTo>
                  <a:cubicBezTo>
                    <a:pt x="27568" y="2159000"/>
                    <a:pt x="0" y="2131432"/>
                    <a:pt x="0" y="2097424"/>
                  </a:cubicBezTo>
                  <a:lnTo>
                    <a:pt x="0" y="61576"/>
                  </a:lnTo>
                  <a:cubicBezTo>
                    <a:pt x="0" y="27568"/>
                    <a:pt x="27568" y="0"/>
                    <a:pt x="61576" y="0"/>
                  </a:cubicBezTo>
                  <a:close/>
                </a:path>
              </a:pathLst>
            </a:custGeom>
            <a:solidFill>
              <a:srgbClr val="F28C28"/>
            </a:solidFill>
            <a:ln cap="sq">
              <a:noFill/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9525"/>
              <a:ext cx="4191000" cy="21494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Cuentas por Cobrar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y seguimiento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2381250" y="7562850"/>
            <a:ext cx="13525500" cy="4410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07"/>
              </a:lnSpc>
            </a:pPr>
            <a:r>
              <a:rPr lang="en-US" sz="315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Más liquidez para el cliente. Más control para KraneChile.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8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428625"/>
            <a:ext cx="49530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F28C28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KRANECHILE  /  06</a:t>
            </a:r>
          </a:p>
        </p:txBody>
      </p:sp>
      <p:sp>
        <p:nvSpPr>
          <p:cNvPr name="AutoShape 3" id="3"/>
          <p:cNvSpPr/>
          <p:nvPr/>
        </p:nvSpPr>
        <p:spPr>
          <a:xfrm>
            <a:off x="952500" y="838200"/>
            <a:ext cx="16383000" cy="0"/>
          </a:xfrm>
          <a:prstGeom prst="line">
            <a:avLst/>
          </a:prstGeom>
          <a:ln cap="flat" w="19050">
            <a:solidFill>
              <a:srgbClr val="24425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" id="4"/>
          <p:cNvSpPr txBox="true"/>
          <p:nvPr/>
        </p:nvSpPr>
        <p:spPr>
          <a:xfrm rot="0">
            <a:off x="15811500" y="9620250"/>
            <a:ext cx="1524000" cy="196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0"/>
              </a:lnSpc>
            </a:pPr>
            <a:r>
              <a:rPr lang="en-US" sz="1200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06  /  12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52500" y="1438275"/>
            <a:ext cx="8096250" cy="575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10"/>
              </a:lnSpc>
            </a:pPr>
            <a:r>
              <a:rPr lang="en-US" sz="42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La operación vive en terreno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500" y="2638425"/>
            <a:ext cx="7620000" cy="366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2250">
                <a:solidFill>
                  <a:srgbClr val="F28C28"/>
                </a:solidFill>
                <a:latin typeface="IBM Plex Sans"/>
                <a:ea typeface="IBM Plex Sans"/>
                <a:cs typeface="IBM Plex Sans"/>
                <a:sym typeface="IBM Plex Sans"/>
              </a:rPr>
              <a:t>App móvil para operadores · Flutter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52500" y="4229100"/>
            <a:ext cx="7239000" cy="321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4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01  Asignación automática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571625" y="4638675"/>
            <a:ext cx="6572250" cy="299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1800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Operador disponible más cercano.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52500" y="5848350"/>
            <a:ext cx="7239000" cy="321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4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02  Control documental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71625" y="6257925"/>
            <a:ext cx="6572250" cy="299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1800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Licencia, revisión técnica, SOAP y permiso.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52500" y="7467600"/>
            <a:ext cx="7239000" cy="321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4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03  Hoja de ruta digital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571625" y="7877175"/>
            <a:ext cx="6572250" cy="299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1800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En traslado → En faena → Completada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0382250" y="1333500"/>
            <a:ext cx="5905500" cy="7810500"/>
          </a:xfrm>
          <a:custGeom>
            <a:avLst/>
            <a:gdLst/>
            <a:ahLst/>
            <a:cxnLst/>
            <a:rect r="r" b="b" t="t" l="l"/>
            <a:pathLst>
              <a:path h="7810500" w="5905500">
                <a:moveTo>
                  <a:pt x="0" y="0"/>
                </a:moveTo>
                <a:lnTo>
                  <a:pt x="5905500" y="0"/>
                </a:lnTo>
                <a:lnTo>
                  <a:pt x="5905500" y="7810500"/>
                </a:lnTo>
                <a:lnTo>
                  <a:pt x="0" y="78105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2" r="0" b="-72"/>
            </a:stretch>
          </a:blipFill>
          <a:ln cap="sq">
            <a:noFill/>
            <a:prstDash val="solid"/>
            <a:miter/>
          </a:ln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8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428625"/>
            <a:ext cx="49530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F28C28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KRANECHILE  /  07</a:t>
            </a:r>
          </a:p>
        </p:txBody>
      </p:sp>
      <p:sp>
        <p:nvSpPr>
          <p:cNvPr name="AutoShape 3" id="3"/>
          <p:cNvSpPr/>
          <p:nvPr/>
        </p:nvSpPr>
        <p:spPr>
          <a:xfrm>
            <a:off x="952500" y="838200"/>
            <a:ext cx="16383000" cy="0"/>
          </a:xfrm>
          <a:prstGeom prst="line">
            <a:avLst/>
          </a:prstGeom>
          <a:ln cap="flat" w="19050">
            <a:solidFill>
              <a:srgbClr val="24425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" id="4"/>
          <p:cNvSpPr txBox="true"/>
          <p:nvPr/>
        </p:nvSpPr>
        <p:spPr>
          <a:xfrm rot="0">
            <a:off x="15811500" y="9620250"/>
            <a:ext cx="1524000" cy="196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0"/>
              </a:lnSpc>
            </a:pPr>
            <a:r>
              <a:rPr lang="en-US" sz="1200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07  /  12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7810500" y="1143000"/>
            <a:ext cx="10477500" cy="8001000"/>
          </a:xfrm>
          <a:custGeom>
            <a:avLst/>
            <a:gdLst/>
            <a:ahLst/>
            <a:cxnLst/>
            <a:rect r="r" b="b" t="t" l="l"/>
            <a:pathLst>
              <a:path h="8001000" w="10477500">
                <a:moveTo>
                  <a:pt x="0" y="0"/>
                </a:moveTo>
                <a:lnTo>
                  <a:pt x="10477500" y="0"/>
                </a:lnTo>
                <a:lnTo>
                  <a:pt x="10477500" y="8001000"/>
                </a:lnTo>
                <a:lnTo>
                  <a:pt x="0" y="800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4" t="0" r="-74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6" id="6"/>
          <p:cNvGrpSpPr/>
          <p:nvPr/>
        </p:nvGrpSpPr>
        <p:grpSpPr>
          <a:xfrm rot="0">
            <a:off x="7810500" y="1143000"/>
            <a:ext cx="3159863" cy="8001000"/>
            <a:chOff x="0" y="0"/>
            <a:chExt cx="4213151" cy="10668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213151" cy="10668000"/>
            </a:xfrm>
            <a:custGeom>
              <a:avLst/>
              <a:gdLst/>
              <a:ahLst/>
              <a:cxnLst/>
              <a:rect r="r" b="b" t="t" l="l"/>
              <a:pathLst>
                <a:path h="10668000" w="4213151">
                  <a:moveTo>
                    <a:pt x="0" y="0"/>
                  </a:moveTo>
                  <a:lnTo>
                    <a:pt x="4213151" y="0"/>
                  </a:lnTo>
                  <a:lnTo>
                    <a:pt x="4213151" y="10668000"/>
                  </a:lnTo>
                  <a:lnTo>
                    <a:pt x="0" y="10668000"/>
                  </a:lnTo>
                  <a:close/>
                </a:path>
              </a:pathLst>
            </a:custGeom>
            <a:gradFill rotWithShape="true">
              <a:gsLst>
                <a:gs pos="0">
                  <a:srgbClr val="081B2C">
                    <a:alpha val="100000"/>
                  </a:srgbClr>
                </a:gs>
                <a:gs pos="62000">
                  <a:srgbClr val="1261A0">
                    <a:alpha val="100000"/>
                  </a:srgbClr>
                </a:gs>
                <a:gs pos="100000">
                  <a:srgbClr val="081B2C">
                    <a:alpha val="100000"/>
                  </a:srgbClr>
                </a:gs>
              </a:gsLst>
              <a:lin ang="16200000"/>
            </a:gra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4213151" cy="1070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952500" y="1609725"/>
            <a:ext cx="6667500" cy="430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8"/>
              </a:lnSpc>
            </a:pPr>
            <a:r>
              <a:rPr lang="en-US" sz="3075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Trazabilidad total para el cliente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52500" y="3495675"/>
            <a:ext cx="5715000" cy="747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225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Del despacho a la faena, sin llamadas ni incertidumbre.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52500" y="5781675"/>
            <a:ext cx="47625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spc="179" b="true">
                <a:solidFill>
                  <a:srgbClr val="F28C28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LINK AUTOMÁTICO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52500" y="6286500"/>
            <a:ext cx="5334000" cy="952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01"/>
              </a:lnSpc>
            </a:pPr>
            <a:r>
              <a:rPr lang="en-US" sz="3525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Ubicación en vivo de la grúa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8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52500" y="838200"/>
            <a:ext cx="16383000" cy="0"/>
          </a:xfrm>
          <a:prstGeom prst="line">
            <a:avLst/>
          </a:prstGeom>
          <a:ln cap="flat" w="19050">
            <a:solidFill>
              <a:srgbClr val="24425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684711" y="2378392"/>
            <a:ext cx="12918579" cy="7117340"/>
          </a:xfrm>
          <a:custGeom>
            <a:avLst/>
            <a:gdLst/>
            <a:ahLst/>
            <a:cxnLst/>
            <a:rect r="r" b="b" t="t" l="l"/>
            <a:pathLst>
              <a:path h="7117340" w="12918579">
                <a:moveTo>
                  <a:pt x="0" y="0"/>
                </a:moveTo>
                <a:lnTo>
                  <a:pt x="12918578" y="0"/>
                </a:lnTo>
                <a:lnTo>
                  <a:pt x="12918578" y="7117341"/>
                </a:lnTo>
                <a:lnTo>
                  <a:pt x="0" y="71173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52500" y="428625"/>
            <a:ext cx="49530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F28C28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KRANECHILE  /  08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811500" y="9620250"/>
            <a:ext cx="1524000" cy="196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0"/>
              </a:lnSpc>
            </a:pPr>
            <a:r>
              <a:rPr lang="en-US" sz="1200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08  /  12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500" y="1257300"/>
            <a:ext cx="11430000" cy="5876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67"/>
              </a:lnSpc>
            </a:pPr>
            <a:r>
              <a:rPr lang="en-US" sz="435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Decisiones estratégicas, en tiempo real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08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428625"/>
            <a:ext cx="49530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F28C28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KRANECHILE  /  09</a:t>
            </a:r>
          </a:p>
        </p:txBody>
      </p:sp>
      <p:sp>
        <p:nvSpPr>
          <p:cNvPr name="AutoShape 3" id="3"/>
          <p:cNvSpPr/>
          <p:nvPr/>
        </p:nvSpPr>
        <p:spPr>
          <a:xfrm>
            <a:off x="952500" y="838200"/>
            <a:ext cx="16383000" cy="0"/>
          </a:xfrm>
          <a:prstGeom prst="line">
            <a:avLst/>
          </a:prstGeom>
          <a:ln cap="flat" w="19050">
            <a:solidFill>
              <a:srgbClr val="24425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" id="4"/>
          <p:cNvSpPr txBox="true"/>
          <p:nvPr/>
        </p:nvSpPr>
        <p:spPr>
          <a:xfrm rot="0">
            <a:off x="15811500" y="9620250"/>
            <a:ext cx="1524000" cy="196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0"/>
              </a:lnSpc>
            </a:pPr>
            <a:r>
              <a:rPr lang="en-US" sz="1200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09  /  12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52500" y="1304925"/>
            <a:ext cx="11430000" cy="5767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8"/>
              </a:lnSpc>
            </a:pPr>
            <a:r>
              <a:rPr lang="en-US" sz="4275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Seguridad, control y registro de eventos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500" y="2200275"/>
            <a:ext cx="1000125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Una bitácora inmutable responde siempre: quién, qué y cuándo.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238250" y="4381500"/>
            <a:ext cx="3333750" cy="1809750"/>
            <a:chOff x="0" y="0"/>
            <a:chExt cx="4445000" cy="2413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445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4445000">
                  <a:moveTo>
                    <a:pt x="58057" y="0"/>
                  </a:moveTo>
                  <a:lnTo>
                    <a:pt x="4386943" y="0"/>
                  </a:lnTo>
                  <a:cubicBezTo>
                    <a:pt x="4402341" y="0"/>
                    <a:pt x="4417108" y="6117"/>
                    <a:pt x="4427996" y="17005"/>
                  </a:cubicBezTo>
                  <a:cubicBezTo>
                    <a:pt x="4438883" y="27892"/>
                    <a:pt x="4445000" y="42659"/>
                    <a:pt x="4445000" y="58057"/>
                  </a:cubicBezTo>
                  <a:lnTo>
                    <a:pt x="4445000" y="2354943"/>
                  </a:lnTo>
                  <a:cubicBezTo>
                    <a:pt x="4445000" y="2370341"/>
                    <a:pt x="4438883" y="2385108"/>
                    <a:pt x="4427996" y="2395995"/>
                  </a:cubicBezTo>
                  <a:cubicBezTo>
                    <a:pt x="4417108" y="2406883"/>
                    <a:pt x="4402341" y="2413000"/>
                    <a:pt x="4386943" y="2413000"/>
                  </a:cubicBezTo>
                  <a:lnTo>
                    <a:pt x="58057" y="2413000"/>
                  </a:lnTo>
                  <a:cubicBezTo>
                    <a:pt x="42659" y="2413000"/>
                    <a:pt x="27892" y="2406883"/>
                    <a:pt x="17005" y="2395995"/>
                  </a:cubicBezTo>
                  <a:cubicBezTo>
                    <a:pt x="6117" y="2385108"/>
                    <a:pt x="0" y="2370341"/>
                    <a:pt x="0" y="2354943"/>
                  </a:cubicBezTo>
                  <a:lnTo>
                    <a:pt x="0" y="58057"/>
                  </a:lnTo>
                  <a:cubicBezTo>
                    <a:pt x="0" y="42659"/>
                    <a:pt x="6117" y="27892"/>
                    <a:pt x="17005" y="17005"/>
                  </a:cubicBezTo>
                  <a:cubicBezTo>
                    <a:pt x="27892" y="6117"/>
                    <a:pt x="42659" y="0"/>
                    <a:pt x="58057" y="0"/>
                  </a:cubicBezTo>
                  <a:close/>
                </a:path>
              </a:pathLst>
            </a:custGeom>
            <a:solidFill>
              <a:srgbClr val="F28C28"/>
            </a:soli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9525"/>
              <a:ext cx="4445000" cy="24034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USUARIO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identidad + rol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>
            <a:off x="4667250" y="5286375"/>
            <a:ext cx="666750" cy="0"/>
          </a:xfrm>
          <a:prstGeom prst="line">
            <a:avLst/>
          </a:prstGeom>
          <a:ln cap="flat" w="38100">
            <a:solidFill>
              <a:srgbClr val="F28C2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1" id="11"/>
          <p:cNvGrpSpPr/>
          <p:nvPr/>
        </p:nvGrpSpPr>
        <p:grpSpPr>
          <a:xfrm rot="0">
            <a:off x="5429250" y="4381500"/>
            <a:ext cx="3333750" cy="1809750"/>
            <a:chOff x="0" y="0"/>
            <a:chExt cx="4445000" cy="2413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445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4445000">
                  <a:moveTo>
                    <a:pt x="58057" y="0"/>
                  </a:moveTo>
                  <a:lnTo>
                    <a:pt x="4386943" y="0"/>
                  </a:lnTo>
                  <a:cubicBezTo>
                    <a:pt x="4402341" y="0"/>
                    <a:pt x="4417108" y="6117"/>
                    <a:pt x="4427996" y="17005"/>
                  </a:cubicBezTo>
                  <a:cubicBezTo>
                    <a:pt x="4438883" y="27892"/>
                    <a:pt x="4445000" y="42659"/>
                    <a:pt x="4445000" y="58057"/>
                  </a:cubicBezTo>
                  <a:lnTo>
                    <a:pt x="4445000" y="2354943"/>
                  </a:lnTo>
                  <a:cubicBezTo>
                    <a:pt x="4445000" y="2370341"/>
                    <a:pt x="4438883" y="2385108"/>
                    <a:pt x="4427996" y="2395995"/>
                  </a:cubicBezTo>
                  <a:cubicBezTo>
                    <a:pt x="4417108" y="2406883"/>
                    <a:pt x="4402341" y="2413000"/>
                    <a:pt x="4386943" y="2413000"/>
                  </a:cubicBezTo>
                  <a:lnTo>
                    <a:pt x="58057" y="2413000"/>
                  </a:lnTo>
                  <a:cubicBezTo>
                    <a:pt x="42659" y="2413000"/>
                    <a:pt x="27892" y="2406883"/>
                    <a:pt x="17005" y="2395995"/>
                  </a:cubicBezTo>
                  <a:cubicBezTo>
                    <a:pt x="6117" y="2385108"/>
                    <a:pt x="0" y="2370341"/>
                    <a:pt x="0" y="2354943"/>
                  </a:cubicBezTo>
                  <a:lnTo>
                    <a:pt x="0" y="58057"/>
                  </a:lnTo>
                  <a:cubicBezTo>
                    <a:pt x="0" y="42659"/>
                    <a:pt x="6117" y="27892"/>
                    <a:pt x="17005" y="17005"/>
                  </a:cubicBezTo>
                  <a:cubicBezTo>
                    <a:pt x="27892" y="6117"/>
                    <a:pt x="42659" y="0"/>
                    <a:pt x="58057" y="0"/>
                  </a:cubicBezTo>
                  <a:close/>
                </a:path>
              </a:pathLst>
            </a:custGeom>
            <a:solidFill>
              <a:srgbClr val="F28C28"/>
            </a:soli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9525"/>
              <a:ext cx="4445000" cy="24034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EVENTO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acción crítica</a:t>
              </a:r>
            </a:p>
          </p:txBody>
        </p:sp>
      </p:grpSp>
      <p:sp>
        <p:nvSpPr>
          <p:cNvPr name="AutoShape 14" id="14"/>
          <p:cNvSpPr/>
          <p:nvPr/>
        </p:nvSpPr>
        <p:spPr>
          <a:xfrm>
            <a:off x="8858250" y="5286375"/>
            <a:ext cx="666750" cy="0"/>
          </a:xfrm>
          <a:prstGeom prst="line">
            <a:avLst/>
          </a:prstGeom>
          <a:ln cap="flat" w="38100">
            <a:solidFill>
              <a:srgbClr val="F28C2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5" id="15"/>
          <p:cNvGrpSpPr/>
          <p:nvPr/>
        </p:nvGrpSpPr>
        <p:grpSpPr>
          <a:xfrm rot="0">
            <a:off x="9620250" y="4381500"/>
            <a:ext cx="3333750" cy="1809750"/>
            <a:chOff x="0" y="0"/>
            <a:chExt cx="4445000" cy="241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445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4445000">
                  <a:moveTo>
                    <a:pt x="58057" y="0"/>
                  </a:moveTo>
                  <a:lnTo>
                    <a:pt x="4386943" y="0"/>
                  </a:lnTo>
                  <a:cubicBezTo>
                    <a:pt x="4402341" y="0"/>
                    <a:pt x="4417108" y="6117"/>
                    <a:pt x="4427996" y="17005"/>
                  </a:cubicBezTo>
                  <a:cubicBezTo>
                    <a:pt x="4438883" y="27892"/>
                    <a:pt x="4445000" y="42659"/>
                    <a:pt x="4445000" y="58057"/>
                  </a:cubicBezTo>
                  <a:lnTo>
                    <a:pt x="4445000" y="2354943"/>
                  </a:lnTo>
                  <a:cubicBezTo>
                    <a:pt x="4445000" y="2370341"/>
                    <a:pt x="4438883" y="2385108"/>
                    <a:pt x="4427996" y="2395995"/>
                  </a:cubicBezTo>
                  <a:cubicBezTo>
                    <a:pt x="4417108" y="2406883"/>
                    <a:pt x="4402341" y="2413000"/>
                    <a:pt x="4386943" y="2413000"/>
                  </a:cubicBezTo>
                  <a:lnTo>
                    <a:pt x="58057" y="2413000"/>
                  </a:lnTo>
                  <a:cubicBezTo>
                    <a:pt x="42659" y="2413000"/>
                    <a:pt x="27892" y="2406883"/>
                    <a:pt x="17005" y="2395995"/>
                  </a:cubicBezTo>
                  <a:cubicBezTo>
                    <a:pt x="6117" y="2385108"/>
                    <a:pt x="0" y="2370341"/>
                    <a:pt x="0" y="2354943"/>
                  </a:cubicBezTo>
                  <a:lnTo>
                    <a:pt x="0" y="58057"/>
                  </a:lnTo>
                  <a:cubicBezTo>
                    <a:pt x="0" y="42659"/>
                    <a:pt x="6117" y="27892"/>
                    <a:pt x="17005" y="17005"/>
                  </a:cubicBezTo>
                  <a:cubicBezTo>
                    <a:pt x="27892" y="6117"/>
                    <a:pt x="42659" y="0"/>
                    <a:pt x="58057" y="0"/>
                  </a:cubicBezTo>
                  <a:close/>
                </a:path>
              </a:pathLst>
            </a:custGeom>
            <a:solidFill>
              <a:srgbClr val="F28C28"/>
            </a:solidFill>
            <a:ln cap="sq">
              <a:noFill/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9525"/>
              <a:ext cx="4445000" cy="24034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REGISTRO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fecha + evidencia</a:t>
              </a:r>
            </a:p>
          </p:txBody>
        </p:sp>
      </p:grpSp>
      <p:sp>
        <p:nvSpPr>
          <p:cNvPr name="AutoShape 18" id="18"/>
          <p:cNvSpPr/>
          <p:nvPr/>
        </p:nvSpPr>
        <p:spPr>
          <a:xfrm>
            <a:off x="13049250" y="5286375"/>
            <a:ext cx="666750" cy="0"/>
          </a:xfrm>
          <a:prstGeom prst="line">
            <a:avLst/>
          </a:prstGeom>
          <a:ln cap="flat" w="38100">
            <a:solidFill>
              <a:srgbClr val="F28C2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9" id="19"/>
          <p:cNvGrpSpPr/>
          <p:nvPr/>
        </p:nvGrpSpPr>
        <p:grpSpPr>
          <a:xfrm rot="0">
            <a:off x="13811250" y="4381500"/>
            <a:ext cx="3333750" cy="1809750"/>
            <a:chOff x="0" y="0"/>
            <a:chExt cx="4445000" cy="2413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445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4445000">
                  <a:moveTo>
                    <a:pt x="58057" y="0"/>
                  </a:moveTo>
                  <a:lnTo>
                    <a:pt x="4386943" y="0"/>
                  </a:lnTo>
                  <a:cubicBezTo>
                    <a:pt x="4402341" y="0"/>
                    <a:pt x="4417108" y="6117"/>
                    <a:pt x="4427996" y="17005"/>
                  </a:cubicBezTo>
                  <a:cubicBezTo>
                    <a:pt x="4438883" y="27892"/>
                    <a:pt x="4445000" y="42659"/>
                    <a:pt x="4445000" y="58057"/>
                  </a:cubicBezTo>
                  <a:lnTo>
                    <a:pt x="4445000" y="2354943"/>
                  </a:lnTo>
                  <a:cubicBezTo>
                    <a:pt x="4445000" y="2370341"/>
                    <a:pt x="4438883" y="2385108"/>
                    <a:pt x="4427996" y="2395995"/>
                  </a:cubicBezTo>
                  <a:cubicBezTo>
                    <a:pt x="4417108" y="2406883"/>
                    <a:pt x="4402341" y="2413000"/>
                    <a:pt x="4386943" y="2413000"/>
                  </a:cubicBezTo>
                  <a:lnTo>
                    <a:pt x="58057" y="2413000"/>
                  </a:lnTo>
                  <a:cubicBezTo>
                    <a:pt x="42659" y="2413000"/>
                    <a:pt x="27892" y="2406883"/>
                    <a:pt x="17005" y="2395995"/>
                  </a:cubicBezTo>
                  <a:cubicBezTo>
                    <a:pt x="6117" y="2385108"/>
                    <a:pt x="0" y="2370341"/>
                    <a:pt x="0" y="2354943"/>
                  </a:cubicBezTo>
                  <a:lnTo>
                    <a:pt x="0" y="58057"/>
                  </a:lnTo>
                  <a:cubicBezTo>
                    <a:pt x="0" y="42659"/>
                    <a:pt x="6117" y="27892"/>
                    <a:pt x="17005" y="17005"/>
                  </a:cubicBezTo>
                  <a:cubicBezTo>
                    <a:pt x="27892" y="6117"/>
                    <a:pt x="42659" y="0"/>
                    <a:pt x="58057" y="0"/>
                  </a:cubicBezTo>
                  <a:close/>
                </a:path>
              </a:pathLst>
            </a:custGeom>
            <a:solidFill>
              <a:srgbClr val="F28C28"/>
            </a:solidFill>
            <a:ln cap="sq">
              <a:noFill/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9525"/>
              <a:ext cx="4445000" cy="24034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ALERTA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revisión + control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4000500" y="7381875"/>
            <a:ext cx="10287000" cy="842010"/>
            <a:chOff x="0" y="0"/>
            <a:chExt cx="13716000" cy="1122680"/>
          </a:xfrm>
        </p:grpSpPr>
        <p:sp>
          <p:nvSpPr>
            <p:cNvPr name="TextBox 23" id="23"/>
            <p:cNvSpPr txBox="true"/>
            <p:nvPr/>
          </p:nvSpPr>
          <p:spPr>
            <a:xfrm rot="0">
              <a:off x="0" y="38100"/>
              <a:ext cx="13716000" cy="44196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520"/>
                </a:lnSpc>
              </a:pPr>
              <a:r>
                <a:rPr lang="en-US" sz="2400" b="true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Tarifas · Créditos · Estados de arriendo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0" y="733425"/>
              <a:ext cx="13716000" cy="3892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430"/>
                </a:lnSpc>
              </a:pPr>
              <a:r>
                <a:rPr lang="en-US" sz="1800">
                  <a:solidFill>
                    <a:srgbClr val="D9E6EE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Transparencia operativa y prevención de fraude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08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428625"/>
            <a:ext cx="49530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F28C28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KRANECHILE  /  10</a:t>
            </a:r>
          </a:p>
        </p:txBody>
      </p:sp>
      <p:sp>
        <p:nvSpPr>
          <p:cNvPr name="AutoShape 3" id="3"/>
          <p:cNvSpPr/>
          <p:nvPr/>
        </p:nvSpPr>
        <p:spPr>
          <a:xfrm>
            <a:off x="952500" y="838200"/>
            <a:ext cx="16383000" cy="0"/>
          </a:xfrm>
          <a:prstGeom prst="line">
            <a:avLst/>
          </a:prstGeom>
          <a:ln cap="flat" w="19050">
            <a:solidFill>
              <a:srgbClr val="24425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" id="4"/>
          <p:cNvSpPr txBox="true"/>
          <p:nvPr/>
        </p:nvSpPr>
        <p:spPr>
          <a:xfrm rot="0">
            <a:off x="15811500" y="9620250"/>
            <a:ext cx="1524000" cy="196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0"/>
              </a:lnSpc>
            </a:pPr>
            <a:r>
              <a:rPr lang="en-US" sz="1200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10  /  12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52500" y="1400175"/>
            <a:ext cx="11430000" cy="651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1"/>
              </a:lnSpc>
            </a:pPr>
            <a:r>
              <a:rPr lang="en-US" sz="4725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Desarrollo estructurado en 5 sprints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500" y="2295525"/>
            <a:ext cx="904875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De la base técnica a una operación móvil integrada</a:t>
            </a:r>
          </a:p>
        </p:txBody>
      </p:sp>
      <p:sp>
        <p:nvSpPr>
          <p:cNvPr name="AutoShape 7" id="7"/>
          <p:cNvSpPr/>
          <p:nvPr/>
        </p:nvSpPr>
        <p:spPr>
          <a:xfrm>
            <a:off x="1714500" y="5524500"/>
            <a:ext cx="14859000" cy="0"/>
          </a:xfrm>
          <a:prstGeom prst="line">
            <a:avLst/>
          </a:prstGeom>
          <a:ln cap="rnd" w="57150">
            <a:solidFill>
              <a:srgbClr val="F28C2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" id="8"/>
          <p:cNvGrpSpPr/>
          <p:nvPr/>
        </p:nvGrpSpPr>
        <p:grpSpPr>
          <a:xfrm rot="0">
            <a:off x="952500" y="4476750"/>
            <a:ext cx="2286000" cy="1714500"/>
            <a:chOff x="0" y="0"/>
            <a:chExt cx="3048000" cy="2286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048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3048000">
                  <a:moveTo>
                    <a:pt x="203200" y="0"/>
                  </a:moveTo>
                  <a:lnTo>
                    <a:pt x="2844800" y="0"/>
                  </a:lnTo>
                  <a:cubicBezTo>
                    <a:pt x="2957024" y="0"/>
                    <a:pt x="3048000" y="90976"/>
                    <a:pt x="3048000" y="203200"/>
                  </a:cubicBezTo>
                  <a:lnTo>
                    <a:pt x="3048000" y="2082800"/>
                  </a:lnTo>
                  <a:cubicBezTo>
                    <a:pt x="3048000" y="2195024"/>
                    <a:pt x="2957024" y="2286000"/>
                    <a:pt x="2844800" y="2286000"/>
                  </a:cubicBezTo>
                  <a:lnTo>
                    <a:pt x="203200" y="2286000"/>
                  </a:lnTo>
                  <a:cubicBezTo>
                    <a:pt x="90976" y="2286000"/>
                    <a:pt x="0" y="2195024"/>
                    <a:pt x="0" y="2082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28C28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9525"/>
              <a:ext cx="3048000" cy="2276475"/>
            </a:xfrm>
            <a:prstGeom prst="rect">
              <a:avLst/>
            </a:prstGeom>
          </p:spPr>
          <p:txBody>
            <a:bodyPr anchor="ctr" rtlCol="false" tIns="177800" lIns="177800" bIns="177800" rIns="177800"/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Sprint 1: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Documentación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8 actividades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0" y="4476750"/>
            <a:ext cx="2286000" cy="1714500"/>
            <a:chOff x="0" y="0"/>
            <a:chExt cx="3048000" cy="2286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048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3048000">
                  <a:moveTo>
                    <a:pt x="203200" y="0"/>
                  </a:moveTo>
                  <a:lnTo>
                    <a:pt x="2844800" y="0"/>
                  </a:lnTo>
                  <a:cubicBezTo>
                    <a:pt x="2957024" y="0"/>
                    <a:pt x="3048000" y="90976"/>
                    <a:pt x="3048000" y="203200"/>
                  </a:cubicBezTo>
                  <a:lnTo>
                    <a:pt x="3048000" y="2082800"/>
                  </a:lnTo>
                  <a:cubicBezTo>
                    <a:pt x="3048000" y="2195024"/>
                    <a:pt x="2957024" y="2286000"/>
                    <a:pt x="2844800" y="2286000"/>
                  </a:cubicBezTo>
                  <a:lnTo>
                    <a:pt x="203200" y="2286000"/>
                  </a:lnTo>
                  <a:cubicBezTo>
                    <a:pt x="90976" y="2286000"/>
                    <a:pt x="0" y="2195024"/>
                    <a:pt x="0" y="2082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28C28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9525"/>
              <a:ext cx="3048000" cy="2276475"/>
            </a:xfrm>
            <a:prstGeom prst="rect">
              <a:avLst/>
            </a:prstGeom>
          </p:spPr>
          <p:txBody>
            <a:bodyPr anchor="ctr" rtlCol="false" tIns="177800" lIns="177800" bIns="177800" rIns="177800"/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Sprint 2: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Frontend y UX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14 actividades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667500" y="4476750"/>
            <a:ext cx="2286000" cy="1714500"/>
            <a:chOff x="0" y="0"/>
            <a:chExt cx="3048000" cy="2286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048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3048000">
                  <a:moveTo>
                    <a:pt x="203200" y="0"/>
                  </a:moveTo>
                  <a:lnTo>
                    <a:pt x="2844800" y="0"/>
                  </a:lnTo>
                  <a:cubicBezTo>
                    <a:pt x="2957024" y="0"/>
                    <a:pt x="3048000" y="90976"/>
                    <a:pt x="3048000" y="203200"/>
                  </a:cubicBezTo>
                  <a:lnTo>
                    <a:pt x="3048000" y="2082800"/>
                  </a:lnTo>
                  <a:cubicBezTo>
                    <a:pt x="3048000" y="2195024"/>
                    <a:pt x="2957024" y="2286000"/>
                    <a:pt x="2844800" y="2286000"/>
                  </a:cubicBezTo>
                  <a:lnTo>
                    <a:pt x="203200" y="2286000"/>
                  </a:lnTo>
                  <a:cubicBezTo>
                    <a:pt x="90976" y="2286000"/>
                    <a:pt x="0" y="2195024"/>
                    <a:pt x="0" y="2082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28C28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9525"/>
              <a:ext cx="3048000" cy="2276475"/>
            </a:xfrm>
            <a:prstGeom prst="rect">
              <a:avLst/>
            </a:prstGeom>
          </p:spPr>
          <p:txBody>
            <a:bodyPr anchor="ctr" rtlCol="false" tIns="177800" lIns="177800" bIns="177800" rIns="177800"/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Sprint 3: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Backend y Negocio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20 actividades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525000" y="4476750"/>
            <a:ext cx="2286000" cy="1714500"/>
            <a:chOff x="0" y="0"/>
            <a:chExt cx="3048000" cy="2286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048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3048000">
                  <a:moveTo>
                    <a:pt x="203200" y="0"/>
                  </a:moveTo>
                  <a:lnTo>
                    <a:pt x="2844800" y="0"/>
                  </a:lnTo>
                  <a:cubicBezTo>
                    <a:pt x="2957024" y="0"/>
                    <a:pt x="3048000" y="90976"/>
                    <a:pt x="3048000" y="203200"/>
                  </a:cubicBezTo>
                  <a:lnTo>
                    <a:pt x="3048000" y="2082800"/>
                  </a:lnTo>
                  <a:cubicBezTo>
                    <a:pt x="3048000" y="2195024"/>
                    <a:pt x="2957024" y="2286000"/>
                    <a:pt x="2844800" y="2286000"/>
                  </a:cubicBezTo>
                  <a:lnTo>
                    <a:pt x="203200" y="2286000"/>
                  </a:lnTo>
                  <a:cubicBezTo>
                    <a:pt x="90976" y="2286000"/>
                    <a:pt x="0" y="2195024"/>
                    <a:pt x="0" y="2082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28C28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9525"/>
              <a:ext cx="3048000" cy="2276475"/>
            </a:xfrm>
            <a:prstGeom prst="rect">
              <a:avLst/>
            </a:prstGeom>
          </p:spPr>
          <p:txBody>
            <a:bodyPr anchor="ctr" rtlCol="false" tIns="177800" lIns="177800" bIns="177800" rIns="177800"/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Sprint 4: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Integraciones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12 actividades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2382500" y="4476750"/>
            <a:ext cx="2286000" cy="1714500"/>
            <a:chOff x="0" y="0"/>
            <a:chExt cx="3048000" cy="22860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048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3048000">
                  <a:moveTo>
                    <a:pt x="203200" y="0"/>
                  </a:moveTo>
                  <a:lnTo>
                    <a:pt x="2844800" y="0"/>
                  </a:lnTo>
                  <a:cubicBezTo>
                    <a:pt x="2957024" y="0"/>
                    <a:pt x="3048000" y="90976"/>
                    <a:pt x="3048000" y="203200"/>
                  </a:cubicBezTo>
                  <a:lnTo>
                    <a:pt x="3048000" y="2082800"/>
                  </a:lnTo>
                  <a:cubicBezTo>
                    <a:pt x="3048000" y="2195024"/>
                    <a:pt x="2957024" y="2286000"/>
                    <a:pt x="2844800" y="2286000"/>
                  </a:cubicBezTo>
                  <a:lnTo>
                    <a:pt x="203200" y="2286000"/>
                  </a:lnTo>
                  <a:cubicBezTo>
                    <a:pt x="90976" y="2286000"/>
                    <a:pt x="0" y="2195024"/>
                    <a:pt x="0" y="2082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28C28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9525"/>
              <a:ext cx="3048000" cy="2276475"/>
            </a:xfrm>
            <a:prstGeom prst="rect">
              <a:avLst/>
            </a:prstGeom>
          </p:spPr>
          <p:txBody>
            <a:bodyPr anchor="ctr" rtlCol="false" tIns="177800" lIns="177800" bIns="177800" rIns="177800"/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Sprint 5: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Dashboard y Cierre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31 actividades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5240000" y="4476750"/>
            <a:ext cx="2286000" cy="1714500"/>
            <a:chOff x="0" y="0"/>
            <a:chExt cx="3048000" cy="2286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048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3048000">
                  <a:moveTo>
                    <a:pt x="203200" y="0"/>
                  </a:moveTo>
                  <a:lnTo>
                    <a:pt x="2844800" y="0"/>
                  </a:lnTo>
                  <a:cubicBezTo>
                    <a:pt x="2957024" y="0"/>
                    <a:pt x="3048000" y="90976"/>
                    <a:pt x="3048000" y="203200"/>
                  </a:cubicBezTo>
                  <a:lnTo>
                    <a:pt x="3048000" y="2082800"/>
                  </a:lnTo>
                  <a:cubicBezTo>
                    <a:pt x="3048000" y="2195024"/>
                    <a:pt x="2957024" y="2286000"/>
                    <a:pt x="2844800" y="2286000"/>
                  </a:cubicBezTo>
                  <a:lnTo>
                    <a:pt x="203200" y="2286000"/>
                  </a:lnTo>
                  <a:cubicBezTo>
                    <a:pt x="90976" y="2286000"/>
                    <a:pt x="0" y="2195024"/>
                    <a:pt x="0" y="2082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28C28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9525"/>
              <a:ext cx="3048000" cy="2276475"/>
            </a:xfrm>
            <a:prstGeom prst="rect">
              <a:avLst/>
            </a:prstGeom>
          </p:spPr>
          <p:txBody>
            <a:bodyPr anchor="ctr" rtlCol="false" tIns="177800" lIns="177800" bIns="177800" rIns="177800"/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Backlog</a:t>
              </a:r>
            </a:p>
            <a:p>
              <a:pPr algn="ctr">
                <a:lnSpc>
                  <a:spcPts val="1897"/>
                </a:lnSpc>
              </a:pP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8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64086" y="634055"/>
            <a:ext cx="16559828" cy="229572"/>
          </a:xfrm>
          <a:custGeom>
            <a:avLst/>
            <a:gdLst/>
            <a:ahLst/>
            <a:cxnLst/>
            <a:rect r="r" b="b" t="t" l="l"/>
            <a:pathLst>
              <a:path h="229572" w="16559828">
                <a:moveTo>
                  <a:pt x="0" y="0"/>
                </a:moveTo>
                <a:lnTo>
                  <a:pt x="16559828" y="0"/>
                </a:lnTo>
                <a:lnTo>
                  <a:pt x="16559828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651955" y="2786539"/>
            <a:ext cx="11721306" cy="5761109"/>
          </a:xfrm>
          <a:custGeom>
            <a:avLst/>
            <a:gdLst/>
            <a:ahLst/>
            <a:cxnLst/>
            <a:rect r="r" b="b" t="t" l="l"/>
            <a:pathLst>
              <a:path h="5761109" w="11721306">
                <a:moveTo>
                  <a:pt x="0" y="0"/>
                </a:moveTo>
                <a:lnTo>
                  <a:pt x="11721306" y="0"/>
                </a:lnTo>
                <a:lnTo>
                  <a:pt x="11721306" y="5761109"/>
                </a:lnTo>
                <a:lnTo>
                  <a:pt x="0" y="576110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1104476"/>
            <a:ext cx="9363456" cy="5418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07"/>
              </a:lnSpc>
            </a:pPr>
            <a:r>
              <a:rPr lang="en-US" sz="4107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Cronograma de Implementación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14400" y="1833489"/>
            <a:ext cx="4700016" cy="219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7"/>
              </a:lnSpc>
            </a:pPr>
            <a:r>
              <a:rPr lang="en-US" sz="1606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Carta Gantt • Plan de trabajo en 14 semanas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14400" y="443128"/>
            <a:ext cx="1901952" cy="171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9"/>
              </a:lnSpc>
            </a:pPr>
            <a:r>
              <a:rPr lang="en-US" b="true" sz="1254" spc="25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KRANECHILE / 11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08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2500" y="428625"/>
            <a:ext cx="49530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F28C28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KRANECHILE  /  11</a:t>
            </a:r>
          </a:p>
        </p:txBody>
      </p:sp>
      <p:sp>
        <p:nvSpPr>
          <p:cNvPr name="AutoShape 3" id="3"/>
          <p:cNvSpPr/>
          <p:nvPr/>
        </p:nvSpPr>
        <p:spPr>
          <a:xfrm>
            <a:off x="952500" y="838200"/>
            <a:ext cx="16383000" cy="0"/>
          </a:xfrm>
          <a:prstGeom prst="line">
            <a:avLst/>
          </a:prstGeom>
          <a:ln cap="flat" w="19050">
            <a:solidFill>
              <a:srgbClr val="24425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" id="4"/>
          <p:cNvSpPr txBox="true"/>
          <p:nvPr/>
        </p:nvSpPr>
        <p:spPr>
          <a:xfrm rot="0">
            <a:off x="15811500" y="9620250"/>
            <a:ext cx="1524000" cy="196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0"/>
              </a:lnSpc>
            </a:pPr>
            <a:r>
              <a:rPr lang="en-US" sz="1200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11  /  12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52500" y="1304925"/>
            <a:ext cx="10477500" cy="6300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03"/>
              </a:lnSpc>
            </a:pPr>
            <a:r>
              <a:rPr lang="en-US" sz="4575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Arquitectura moderna y escalable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500" y="2200275"/>
            <a:ext cx="857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Un núcleo transaccional. Múltiples puntos de integración.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762750" y="4191000"/>
            <a:ext cx="4762500" cy="2000250"/>
            <a:chOff x="0" y="0"/>
            <a:chExt cx="6350000" cy="2667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350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6350000">
                  <a:moveTo>
                    <a:pt x="40640" y="0"/>
                  </a:moveTo>
                  <a:lnTo>
                    <a:pt x="6309360" y="0"/>
                  </a:lnTo>
                  <a:cubicBezTo>
                    <a:pt x="6331805" y="0"/>
                    <a:pt x="6350000" y="18195"/>
                    <a:pt x="6350000" y="40640"/>
                  </a:cubicBezTo>
                  <a:lnTo>
                    <a:pt x="6350000" y="2626360"/>
                  </a:lnTo>
                  <a:cubicBezTo>
                    <a:pt x="6350000" y="2648805"/>
                    <a:pt x="6331805" y="2667000"/>
                    <a:pt x="6309360" y="2667000"/>
                  </a:cubicBezTo>
                  <a:lnTo>
                    <a:pt x="40640" y="2667000"/>
                  </a:lnTo>
                  <a:cubicBezTo>
                    <a:pt x="18195" y="2667000"/>
                    <a:pt x="0" y="2648805"/>
                    <a:pt x="0" y="2626360"/>
                  </a:cubicBezTo>
                  <a:lnTo>
                    <a:pt x="0" y="40640"/>
                  </a:lnTo>
                  <a:cubicBezTo>
                    <a:pt x="0" y="18195"/>
                    <a:pt x="18195" y="0"/>
                    <a:pt x="40640" y="0"/>
                  </a:cubicBezTo>
                  <a:close/>
                </a:path>
              </a:pathLst>
            </a:custGeom>
            <a:solidFill>
              <a:srgbClr val="FF914D"/>
            </a:soli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9525"/>
              <a:ext cx="6350000" cy="26574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BACKEND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Python 3.12 · Django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REST Framework · SimpleJWT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38250" y="3810000"/>
            <a:ext cx="3810000" cy="1428750"/>
            <a:chOff x="0" y="0"/>
            <a:chExt cx="5080000" cy="1905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08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5080000">
                  <a:moveTo>
                    <a:pt x="50800" y="0"/>
                  </a:moveTo>
                  <a:lnTo>
                    <a:pt x="5029200" y="0"/>
                  </a:lnTo>
                  <a:cubicBezTo>
                    <a:pt x="5057256" y="0"/>
                    <a:pt x="5080000" y="22744"/>
                    <a:pt x="5080000" y="50800"/>
                  </a:cubicBezTo>
                  <a:lnTo>
                    <a:pt x="5080000" y="1854200"/>
                  </a:lnTo>
                  <a:cubicBezTo>
                    <a:pt x="5080000" y="1882256"/>
                    <a:pt x="5057256" y="1905000"/>
                    <a:pt x="5029200" y="1905000"/>
                  </a:cubicBezTo>
                  <a:lnTo>
                    <a:pt x="50800" y="1905000"/>
                  </a:lnTo>
                  <a:cubicBezTo>
                    <a:pt x="22744" y="1905000"/>
                    <a:pt x="0" y="1882256"/>
                    <a:pt x="0" y="1854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F28C28"/>
            </a:solidFill>
            <a:ln cap="sq">
              <a:noFill/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9525"/>
              <a:ext cx="5080000" cy="18954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APP MÓVIL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Flutter · Android ARM</a:t>
              </a:r>
            </a:p>
          </p:txBody>
        </p:sp>
      </p:grpSp>
      <p:sp>
        <p:nvSpPr>
          <p:cNvPr name="AutoShape 13" id="13"/>
          <p:cNvSpPr/>
          <p:nvPr/>
        </p:nvSpPr>
        <p:spPr>
          <a:xfrm>
            <a:off x="5048250" y="4524375"/>
            <a:ext cx="1714500" cy="666750"/>
          </a:xfrm>
          <a:prstGeom prst="line">
            <a:avLst/>
          </a:prstGeom>
          <a:ln cap="flat" w="38100">
            <a:solidFill>
              <a:srgbClr val="F28C2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" id="14"/>
          <p:cNvGrpSpPr/>
          <p:nvPr/>
        </p:nvGrpSpPr>
        <p:grpSpPr>
          <a:xfrm rot="0">
            <a:off x="1238250" y="6667500"/>
            <a:ext cx="3810000" cy="1428750"/>
            <a:chOff x="0" y="0"/>
            <a:chExt cx="5080000" cy="1905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08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5080000">
                  <a:moveTo>
                    <a:pt x="50800" y="0"/>
                  </a:moveTo>
                  <a:lnTo>
                    <a:pt x="5029200" y="0"/>
                  </a:lnTo>
                  <a:cubicBezTo>
                    <a:pt x="5057256" y="0"/>
                    <a:pt x="5080000" y="22744"/>
                    <a:pt x="5080000" y="50800"/>
                  </a:cubicBezTo>
                  <a:lnTo>
                    <a:pt x="5080000" y="1854200"/>
                  </a:lnTo>
                  <a:cubicBezTo>
                    <a:pt x="5080000" y="1882256"/>
                    <a:pt x="5057256" y="1905000"/>
                    <a:pt x="5029200" y="1905000"/>
                  </a:cubicBezTo>
                  <a:lnTo>
                    <a:pt x="50800" y="1905000"/>
                  </a:lnTo>
                  <a:cubicBezTo>
                    <a:pt x="22744" y="1905000"/>
                    <a:pt x="0" y="1882256"/>
                    <a:pt x="0" y="1854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F28C28"/>
            </a:solidFill>
            <a:ln cap="sq">
              <a:noFill/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9525"/>
              <a:ext cx="5080000" cy="18954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BASE DE DATOS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MYSQL</a:t>
              </a:r>
            </a:p>
          </p:txBody>
        </p:sp>
      </p:grpSp>
      <p:sp>
        <p:nvSpPr>
          <p:cNvPr name="AutoShape 17" id="17"/>
          <p:cNvSpPr/>
          <p:nvPr/>
        </p:nvSpPr>
        <p:spPr>
          <a:xfrm flipV="true">
            <a:off x="5048250" y="5191125"/>
            <a:ext cx="1714500" cy="2190750"/>
          </a:xfrm>
          <a:prstGeom prst="line">
            <a:avLst/>
          </a:prstGeom>
          <a:ln cap="flat" w="38100">
            <a:solidFill>
              <a:srgbClr val="F28C2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8" id="18"/>
          <p:cNvGrpSpPr/>
          <p:nvPr/>
        </p:nvGrpSpPr>
        <p:grpSpPr>
          <a:xfrm rot="0">
            <a:off x="13239750" y="3810000"/>
            <a:ext cx="3810000" cy="1428750"/>
            <a:chOff x="0" y="0"/>
            <a:chExt cx="5080000" cy="1905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08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5080000">
                  <a:moveTo>
                    <a:pt x="50800" y="0"/>
                  </a:moveTo>
                  <a:lnTo>
                    <a:pt x="5029200" y="0"/>
                  </a:lnTo>
                  <a:cubicBezTo>
                    <a:pt x="5057256" y="0"/>
                    <a:pt x="5080000" y="22744"/>
                    <a:pt x="5080000" y="50800"/>
                  </a:cubicBezTo>
                  <a:lnTo>
                    <a:pt x="5080000" y="1854200"/>
                  </a:lnTo>
                  <a:cubicBezTo>
                    <a:pt x="5080000" y="1882256"/>
                    <a:pt x="5057256" y="1905000"/>
                    <a:pt x="5029200" y="1905000"/>
                  </a:cubicBezTo>
                  <a:lnTo>
                    <a:pt x="50800" y="1905000"/>
                  </a:lnTo>
                  <a:cubicBezTo>
                    <a:pt x="22744" y="1905000"/>
                    <a:pt x="0" y="1882256"/>
                    <a:pt x="0" y="1854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F28C28"/>
            </a:solidFill>
            <a:ln cap="sq">
              <a:noFill/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9525"/>
              <a:ext cx="5080000" cy="18954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PAGOS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SDK Transbank</a:t>
              </a:r>
            </a:p>
          </p:txBody>
        </p:sp>
      </p:grpSp>
      <p:sp>
        <p:nvSpPr>
          <p:cNvPr name="AutoShape 21" id="21"/>
          <p:cNvSpPr/>
          <p:nvPr/>
        </p:nvSpPr>
        <p:spPr>
          <a:xfrm flipH="true">
            <a:off x="11525250" y="4524375"/>
            <a:ext cx="1714500" cy="666750"/>
          </a:xfrm>
          <a:prstGeom prst="line">
            <a:avLst/>
          </a:prstGeom>
          <a:ln cap="flat" w="38100">
            <a:solidFill>
              <a:srgbClr val="F28C2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2" id="22"/>
          <p:cNvGrpSpPr/>
          <p:nvPr/>
        </p:nvGrpSpPr>
        <p:grpSpPr>
          <a:xfrm rot="0">
            <a:off x="13239750" y="6667500"/>
            <a:ext cx="3810000" cy="1428750"/>
            <a:chOff x="0" y="0"/>
            <a:chExt cx="5080000" cy="1905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08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5080000">
                  <a:moveTo>
                    <a:pt x="50800" y="0"/>
                  </a:moveTo>
                  <a:lnTo>
                    <a:pt x="5029200" y="0"/>
                  </a:lnTo>
                  <a:cubicBezTo>
                    <a:pt x="5057256" y="0"/>
                    <a:pt x="5080000" y="22744"/>
                    <a:pt x="5080000" y="50800"/>
                  </a:cubicBezTo>
                  <a:lnTo>
                    <a:pt x="5080000" y="1854200"/>
                  </a:lnTo>
                  <a:cubicBezTo>
                    <a:pt x="5080000" y="1882256"/>
                    <a:pt x="5057256" y="1905000"/>
                    <a:pt x="5029200" y="1905000"/>
                  </a:cubicBezTo>
                  <a:lnTo>
                    <a:pt x="50800" y="1905000"/>
                  </a:lnTo>
                  <a:cubicBezTo>
                    <a:pt x="22744" y="1905000"/>
                    <a:pt x="0" y="1882256"/>
                    <a:pt x="0" y="1854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F28C28"/>
            </a:solidFill>
            <a:ln cap="sq">
              <a:noFill/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9525"/>
              <a:ext cx="5080000" cy="18954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APIs EXTERNAS</a:t>
              </a:r>
            </a:p>
            <a:p>
              <a:pPr algn="ctr">
                <a:lnSpc>
                  <a:spcPts val="1897"/>
                </a:lnSpc>
              </a:pPr>
              <a:r>
                <a:rPr lang="en-US" sz="1650" b="true">
                  <a:solidFill>
                    <a:srgbClr val="FFFFF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Combustible · Georreferencia</a:t>
              </a:r>
            </a:p>
          </p:txBody>
        </p:sp>
      </p:grpSp>
      <p:sp>
        <p:nvSpPr>
          <p:cNvPr name="AutoShape 25" id="25"/>
          <p:cNvSpPr/>
          <p:nvPr/>
        </p:nvSpPr>
        <p:spPr>
          <a:xfrm flipH="true" flipV="true">
            <a:off x="11525250" y="5191125"/>
            <a:ext cx="1714500" cy="2190750"/>
          </a:xfrm>
          <a:prstGeom prst="line">
            <a:avLst/>
          </a:prstGeom>
          <a:ln cap="flat" w="38100">
            <a:solidFill>
              <a:srgbClr val="F28C28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184708" y="207708"/>
            <a:ext cx="6103292" cy="9445237"/>
          </a:xfrm>
          <a:custGeom>
            <a:avLst/>
            <a:gdLst/>
            <a:ahLst/>
            <a:cxnLst/>
            <a:rect r="r" b="b" t="t" l="l"/>
            <a:pathLst>
              <a:path h="9445237" w="6103292">
                <a:moveTo>
                  <a:pt x="0" y="0"/>
                </a:moveTo>
                <a:lnTo>
                  <a:pt x="6103292" y="0"/>
                </a:lnTo>
                <a:lnTo>
                  <a:pt x="6103292" y="9445237"/>
                </a:lnTo>
                <a:lnTo>
                  <a:pt x="0" y="94452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923818" y="1071335"/>
            <a:ext cx="1323474" cy="1508614"/>
          </a:xfrm>
          <a:custGeom>
            <a:avLst/>
            <a:gdLst/>
            <a:ahLst/>
            <a:cxnLst/>
            <a:rect r="r" b="b" t="t" l="l"/>
            <a:pathLst>
              <a:path h="1508614" w="1323474">
                <a:moveTo>
                  <a:pt x="0" y="0"/>
                </a:moveTo>
                <a:lnTo>
                  <a:pt x="1323474" y="0"/>
                </a:lnTo>
                <a:lnTo>
                  <a:pt x="1323474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622220" y="2569017"/>
            <a:ext cx="1531292" cy="1508614"/>
          </a:xfrm>
          <a:custGeom>
            <a:avLst/>
            <a:gdLst/>
            <a:ahLst/>
            <a:cxnLst/>
            <a:rect r="r" b="b" t="t" l="l"/>
            <a:pathLst>
              <a:path h="1508614" w="1531292">
                <a:moveTo>
                  <a:pt x="0" y="0"/>
                </a:moveTo>
                <a:lnTo>
                  <a:pt x="1531292" y="0"/>
                </a:lnTo>
                <a:lnTo>
                  <a:pt x="153129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3716000" y="3848060"/>
            <a:ext cx="1531292" cy="1727254"/>
          </a:xfrm>
          <a:custGeom>
            <a:avLst/>
            <a:gdLst/>
            <a:ahLst/>
            <a:cxnLst/>
            <a:rect r="r" b="b" t="t" l="l"/>
            <a:pathLst>
              <a:path h="1727254" w="1531292">
                <a:moveTo>
                  <a:pt x="0" y="0"/>
                </a:moveTo>
                <a:lnTo>
                  <a:pt x="1531292" y="0"/>
                </a:lnTo>
                <a:lnTo>
                  <a:pt x="1531292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622220" y="5356674"/>
            <a:ext cx="1531292" cy="1508614"/>
          </a:xfrm>
          <a:custGeom>
            <a:avLst/>
            <a:gdLst/>
            <a:ahLst/>
            <a:cxnLst/>
            <a:rect r="r" b="b" t="t" l="l"/>
            <a:pathLst>
              <a:path h="1508614" w="1531292">
                <a:moveTo>
                  <a:pt x="0" y="0"/>
                </a:moveTo>
                <a:lnTo>
                  <a:pt x="1531292" y="0"/>
                </a:lnTo>
                <a:lnTo>
                  <a:pt x="153129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426574" y="2569017"/>
            <a:ext cx="11550316" cy="7291635"/>
          </a:xfrm>
          <a:custGeom>
            <a:avLst/>
            <a:gdLst/>
            <a:ahLst/>
            <a:cxnLst/>
            <a:rect r="r" b="b" t="t" l="l"/>
            <a:pathLst>
              <a:path h="7291635" w="11550316">
                <a:moveTo>
                  <a:pt x="0" y="0"/>
                </a:moveTo>
                <a:lnTo>
                  <a:pt x="11550316" y="0"/>
                </a:lnTo>
                <a:lnTo>
                  <a:pt x="11550316" y="7291635"/>
                </a:lnTo>
                <a:lnTo>
                  <a:pt x="0" y="72916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806013" y="429972"/>
            <a:ext cx="2444827" cy="170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50"/>
              </a:lnSpc>
            </a:pPr>
            <a:r>
              <a:rPr lang="en-US" b="true" sz="1125" spc="112">
                <a:solidFill>
                  <a:srgbClr val="D17F2A"/>
                </a:solidFill>
                <a:latin typeface="Roboto Bold"/>
                <a:ea typeface="Roboto Bold"/>
                <a:cs typeface="Roboto Bold"/>
                <a:sym typeface="Roboto Bold"/>
              </a:rPr>
              <a:t>KRANECHILE  /  RESULTADOS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24067" y="1019738"/>
            <a:ext cx="7960470" cy="787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8"/>
              </a:lnSpc>
            </a:pPr>
            <a:r>
              <a:rPr lang="en-US" sz="6008" spc="-120" b="true">
                <a:solidFill>
                  <a:srgbClr val="F4F4F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Integraciones y APIs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633233" y="3396958"/>
            <a:ext cx="2305123" cy="241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40"/>
              </a:lnSpc>
            </a:pPr>
            <a:r>
              <a:rPr lang="en-US" sz="1617" b="true">
                <a:solidFill>
                  <a:srgbClr val="D17F2A"/>
                </a:solidFill>
                <a:latin typeface="Roboto Bold"/>
                <a:ea typeface="Roboto Bold"/>
                <a:cs typeface="Roboto Bold"/>
                <a:sym typeface="Roboto Bold"/>
              </a:rPr>
              <a:t>Transbank Webpay Plus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253568" y="3291532"/>
            <a:ext cx="5066666" cy="4735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0"/>
              </a:lnSpc>
            </a:pPr>
            <a:r>
              <a:rPr lang="en-US" sz="1617">
                <a:solidFill>
                  <a:srgbClr val="FFFFFF">
                    <a:alpha val="80000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Procesa el pago online del abono (50%) con tarjeta de crédito/débito al confirmar una reserva.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246218" y="4029513"/>
            <a:ext cx="5801665" cy="4735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0"/>
              </a:lnSpc>
            </a:pPr>
            <a:r>
              <a:rPr lang="en-US" sz="1617">
                <a:solidFill>
                  <a:srgbClr val="FFFFFF">
                    <a:alpha val="80000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Permite iniciar sesión/registrarse con la cuenta de Google del usuario, sin crear contraseña nueva.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691958" y="4827738"/>
            <a:ext cx="2187673" cy="241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40"/>
              </a:lnSpc>
            </a:pPr>
            <a:r>
              <a:rPr lang="en-US" sz="1617" b="true">
                <a:solidFill>
                  <a:srgbClr val="D17F2A"/>
                </a:solidFill>
                <a:latin typeface="Roboto Bold"/>
                <a:ea typeface="Roboto Bold"/>
                <a:cs typeface="Roboto Bold"/>
                <a:sym typeface="Roboto Bold"/>
              </a:rPr>
              <a:t>Google reCAPTCHA v2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5241926" y="4722312"/>
            <a:ext cx="6230796" cy="4735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0"/>
              </a:lnSpc>
            </a:pPr>
            <a:r>
              <a:rPr lang="en-US" sz="1617">
                <a:solidFill>
                  <a:srgbClr val="FFFFFF">
                    <a:alpha val="80000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Verifica que quien inicia sesión o se registra es humano, no un bot (protección anti-spam).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5250764" y="5520536"/>
            <a:ext cx="5347012" cy="241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0"/>
              </a:lnSpc>
            </a:pPr>
            <a:r>
              <a:rPr lang="en-US" sz="1617">
                <a:solidFill>
                  <a:srgbClr val="FFFFFF">
                    <a:alpha val="80000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Mide tráfico y comportamiento de los visitantes del sitio.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04154" y="6032605"/>
            <a:ext cx="3868295" cy="241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40"/>
              </a:lnSpc>
            </a:pPr>
            <a:r>
              <a:rPr lang="en-US" sz="1617" b="true">
                <a:solidFill>
                  <a:srgbClr val="D17F2A"/>
                </a:solidFill>
                <a:latin typeface="Roboto Bold"/>
                <a:ea typeface="Roboto Bold"/>
                <a:cs typeface="Roboto Bold"/>
                <a:sym typeface="Roboto Bold"/>
              </a:rPr>
              <a:t>API CNE (Comisión Nacional de Energía)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5241170" y="6002483"/>
            <a:ext cx="6306433" cy="4735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0"/>
              </a:lnSpc>
            </a:pPr>
            <a:r>
              <a:rPr lang="en-US" sz="1617">
                <a:solidFill>
                  <a:srgbClr val="FFFFFF">
                    <a:alpha val="80000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Consulta el precio real y actualizado del diésel en Chile, usado para calcular el recargo por combustible en cada presupuesto.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5246208" y="6710343"/>
            <a:ext cx="5802598" cy="4735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0"/>
              </a:lnSpc>
            </a:pPr>
            <a:r>
              <a:rPr lang="en-US" sz="1617">
                <a:solidFill>
                  <a:srgbClr val="FFFFFF">
                    <a:alpha val="80000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Geocodifica la dirección de la faena (convierte el texto de la dirección en coordenadas) y da el autocompletado al escribir.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454298" y="7463385"/>
            <a:ext cx="662994" cy="241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40"/>
              </a:lnSpc>
            </a:pPr>
            <a:r>
              <a:rPr lang="en-US" sz="1617" b="true">
                <a:solidFill>
                  <a:srgbClr val="D17F2A"/>
                </a:solidFill>
                <a:latin typeface="Roboto Bold"/>
                <a:ea typeface="Roboto Bold"/>
                <a:cs typeface="Roboto Bold"/>
                <a:sym typeface="Roboto Bold"/>
              </a:rPr>
              <a:t>Leaflet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242007" y="7373020"/>
            <a:ext cx="6222704" cy="4735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0"/>
              </a:lnSpc>
            </a:pPr>
            <a:r>
              <a:rPr lang="en-US" sz="1617">
                <a:solidFill>
                  <a:srgbClr val="FFFFFF">
                    <a:alpha val="80000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Librería del mapa interactivo: ubicar la faena en pantalla y mostrar el seguimiento en vivo de la grúa en terreno.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5246890" y="8035697"/>
            <a:ext cx="5734432" cy="705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0"/>
              </a:lnSpc>
            </a:pPr>
            <a:r>
              <a:rPr lang="en-US" sz="1617">
                <a:solidFill>
                  <a:srgbClr val="FFFFFF">
                    <a:alpha val="80000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Envía los correos automáticos: confirmación de reserva, comprobante, asignación de operador, recuperar contraseña, solicitudes de crédito empresa.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12489" y="9069359"/>
            <a:ext cx="3146612" cy="4997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z="1740" b="true">
                <a:solidFill>
                  <a:srgbClr val="D17F2A"/>
                </a:solidFill>
                <a:latin typeface="Roboto Bold"/>
                <a:ea typeface="Roboto Bold"/>
                <a:cs typeface="Roboto Bold"/>
                <a:sym typeface="Roboto Bold"/>
              </a:rPr>
              <a:t>API REST propia (Django REST</a:t>
            </a:r>
          </a:p>
          <a:p>
            <a:pPr algn="ctr">
              <a:lnSpc>
                <a:spcPts val="2088"/>
              </a:lnSpc>
            </a:pPr>
            <a:r>
              <a:rPr lang="en-US" sz="1740" b="true">
                <a:solidFill>
                  <a:srgbClr val="D17F2A"/>
                </a:solidFill>
                <a:latin typeface="Roboto Bold"/>
                <a:ea typeface="Roboto Bold"/>
                <a:cs typeface="Roboto Bold"/>
                <a:sym typeface="Roboto Bold"/>
              </a:rPr>
              <a:t>Framework + JWT)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240194" y="8969469"/>
            <a:ext cx="6404067" cy="705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0"/>
              </a:lnSpc>
            </a:pPr>
            <a:r>
              <a:rPr lang="en-US" sz="1617">
                <a:solidFill>
                  <a:srgbClr val="FFFFFF">
                    <a:alpha val="80000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Es la API que expone este mismo backend para que la app móvil del operador (Flutter) consulte sus fuenas asignadas y reporte su </a:t>
            </a:r>
            <a:r>
              <a:rPr lang="en-US" sz="1617" b="true">
                <a:solidFill>
                  <a:srgbClr val="FFFFFF">
                    <a:alpha val="80000"/>
                  </a:srgbClr>
                </a:solidFill>
                <a:latin typeface="Roboto Bold"/>
                <a:ea typeface="Roboto Bold"/>
                <a:cs typeface="Roboto Bold"/>
                <a:sym typeface="Roboto Bold"/>
              </a:rPr>
              <a:t>ubicación/estado.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56726" y="2056543"/>
            <a:ext cx="7373516" cy="330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16"/>
              </a:lnSpc>
            </a:pPr>
            <a:r>
              <a:rPr lang="en-US" sz="2179">
                <a:solidFill>
                  <a:srgbClr val="FFFFFF">
                    <a:alpha val="80000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Conectividad externa para una operación digital completa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80966" y="9948423"/>
            <a:ext cx="3518227" cy="205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03"/>
              </a:lnSpc>
            </a:pPr>
            <a:r>
              <a:rPr lang="en-US" b="true" sz="1335" spc="133">
                <a:solidFill>
                  <a:srgbClr val="D17F2A"/>
                </a:solidFill>
                <a:latin typeface="Roboto Bold"/>
                <a:ea typeface="Roboto Bold"/>
                <a:cs typeface="Roboto Bold"/>
                <a:sym typeface="Roboto Bold"/>
              </a:rPr>
              <a:t>KRANECHILE  /  RESULTADOS  /  </a:t>
            </a:r>
            <a:r>
              <a:rPr lang="en-US" b="true" sz="1335" spc="133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07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414777" y="6785647"/>
            <a:ext cx="2742036" cy="241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40"/>
              </a:lnSpc>
            </a:pPr>
            <a:r>
              <a:rPr lang="en-US" sz="1617" b="true">
                <a:solidFill>
                  <a:srgbClr val="D17F2A"/>
                </a:solidFill>
                <a:latin typeface="Roboto Bold"/>
                <a:ea typeface="Roboto Bold"/>
                <a:cs typeface="Roboto Bold"/>
                <a:sym typeface="Roboto Bold"/>
              </a:rPr>
              <a:t>Nominatim / OpenStreetMap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408603" y="8156183"/>
            <a:ext cx="2754382" cy="241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40"/>
              </a:lnSpc>
            </a:pPr>
            <a:r>
              <a:rPr lang="en-US" sz="1617" b="true">
                <a:solidFill>
                  <a:srgbClr val="D17F2A"/>
                </a:solidFill>
                <a:latin typeface="Roboto Bold"/>
                <a:ea typeface="Roboto Bold"/>
                <a:cs typeface="Roboto Bold"/>
                <a:sym typeface="Roboto Bold"/>
              </a:rPr>
              <a:t>SMTP (correo transaccional)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671000" y="5520536"/>
            <a:ext cx="2229590" cy="241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40"/>
              </a:lnSpc>
            </a:pPr>
            <a:r>
              <a:rPr lang="en-US" sz="1617" b="true">
                <a:solidFill>
                  <a:srgbClr val="D17F2A"/>
                </a:solidFill>
                <a:latin typeface="Roboto Bold"/>
                <a:ea typeface="Roboto Bold"/>
                <a:cs typeface="Roboto Bold"/>
                <a:sym typeface="Roboto Bold"/>
              </a:rPr>
              <a:t>Google Analytics (GA4)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694656" y="4134939"/>
            <a:ext cx="2182277" cy="241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40"/>
              </a:lnSpc>
            </a:pPr>
            <a:r>
              <a:rPr lang="en-US" sz="1617" b="true">
                <a:solidFill>
                  <a:srgbClr val="D17F2A"/>
                </a:solidFill>
                <a:latin typeface="Roboto Bold"/>
                <a:ea typeface="Roboto Bold"/>
                <a:cs typeface="Roboto Bold"/>
                <a:sym typeface="Roboto Bold"/>
              </a:rPr>
              <a:t>Google OAuth (allauth)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203807" y="2788988"/>
            <a:ext cx="1163975" cy="249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z="1740" b="true">
                <a:solidFill>
                  <a:srgbClr val="FFFFFF">
                    <a:alpha val="80000"/>
                  </a:srgbClr>
                </a:solidFill>
                <a:latin typeface="Roboto Bold"/>
                <a:ea typeface="Roboto Bold"/>
                <a:cs typeface="Roboto Bold"/>
                <a:sym typeface="Roboto Bold"/>
              </a:rPr>
              <a:t>Integración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7960605" y="2788988"/>
            <a:ext cx="955365" cy="249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z="1740" b="true">
                <a:solidFill>
                  <a:srgbClr val="FFFFFF">
                    <a:alpha val="80000"/>
                  </a:srgbClr>
                </a:solidFill>
                <a:latin typeface="Roboto Bold"/>
                <a:ea typeface="Roboto Bold"/>
                <a:cs typeface="Roboto Bold"/>
                <a:sym typeface="Roboto Bold"/>
              </a:rPr>
              <a:t>Qué hace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8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394799" y="0"/>
            <a:ext cx="8001000" cy="10287000"/>
          </a:xfrm>
          <a:custGeom>
            <a:avLst/>
            <a:gdLst/>
            <a:ahLst/>
            <a:cxnLst/>
            <a:rect r="r" b="b" t="t" l="l"/>
            <a:pathLst>
              <a:path h="10287000" w="8001000">
                <a:moveTo>
                  <a:pt x="0" y="0"/>
                </a:moveTo>
                <a:lnTo>
                  <a:pt x="8001000" y="0"/>
                </a:lnTo>
                <a:lnTo>
                  <a:pt x="8001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8" r="0" b="-98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8572500" y="0"/>
            <a:ext cx="4762500" cy="10287000"/>
            <a:chOff x="0" y="0"/>
            <a:chExt cx="6350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350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true">
              <a:gsLst>
                <a:gs pos="0">
                  <a:srgbClr val="081B2C">
                    <a:alpha val="100000"/>
                  </a:srgbClr>
                </a:gs>
                <a:gs pos="62000">
                  <a:srgbClr val="1261A0">
                    <a:alpha val="100000"/>
                  </a:srgbClr>
                </a:gs>
                <a:gs pos="100000">
                  <a:srgbClr val="081B2C">
                    <a:alpha val="100000"/>
                  </a:srgbClr>
                </a:gs>
              </a:gsLst>
              <a:lin ang="16200000"/>
            </a:gra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6350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952500" y="590550"/>
            <a:ext cx="571500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62" b="true">
                <a:solidFill>
                  <a:srgbClr val="F28C28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KRANECHILE  /  RESULTADOS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52500" y="1857375"/>
            <a:ext cx="8382000" cy="17421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72"/>
              </a:lnSpc>
            </a:pPr>
            <a:r>
              <a:rPr lang="en-US" sz="645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Del clic a la faena.</a:t>
            </a:r>
          </a:p>
          <a:p>
            <a:pPr algn="l">
              <a:lnSpc>
                <a:spcPts val="6772"/>
              </a:lnSpc>
            </a:pPr>
            <a:r>
              <a:rPr lang="en-US" sz="645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Sin fricción.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52500" y="4391025"/>
            <a:ext cx="809625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Cotización web  →  Pago  →  Asignación  →  Operación móvil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52500" y="6191250"/>
            <a:ext cx="6667500" cy="1264920"/>
            <a:chOff x="0" y="0"/>
            <a:chExt cx="8890000" cy="1686560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0"/>
              <a:ext cx="4191000" cy="12992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245"/>
                </a:lnSpc>
              </a:pPr>
              <a:r>
                <a:rPr lang="en-US" sz="6900" b="true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CERO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231900"/>
              <a:ext cx="8890000" cy="45466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35"/>
                </a:lnSpc>
              </a:pPr>
              <a:r>
                <a:rPr lang="en-US" sz="21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sobreventas con bloqueo de calendario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676654" y="8370570"/>
            <a:ext cx="7403989" cy="620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00"/>
              </a:lnSpc>
            </a:pPr>
            <a:r>
              <a:rPr lang="en-US" sz="1851">
                <a:solidFill>
                  <a:srgbClr val="D9E6EE"/>
                </a:solidFill>
                <a:latin typeface="IBM Plex Sans"/>
                <a:ea typeface="IBM Plex Sans"/>
                <a:cs typeface="IBM Plex Sans"/>
                <a:sym typeface="IBM Plex Sans"/>
              </a:rPr>
              <a:t>La transformación digital completa del arriendo de maquinaria pesada en Chile.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DAHWm8X7WAY</dc:identifier>
  <dcterms:modified xsi:type="dcterms:W3CDTF">2011-08-01T06:04:30Z</dcterms:modified>
  <cp:revision>1</cp:revision>
  <dc:title>Presentación Proyecto</dc:title>
</cp:coreProperties>
</file>